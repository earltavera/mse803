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2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F30EA3-EFA8-466B-8BA4-A0C5E8C9269F}" type="doc">
      <dgm:prSet loTypeId="urn:microsoft.com/office/officeart/2005/8/layout/vList2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1348BB36-4385-48AB-8FAD-D6C736281DF9}">
      <dgm:prSet custT="1"/>
      <dgm:spPr/>
      <dgm:t>
        <a:bodyPr/>
        <a:lstStyle/>
        <a:p>
          <a:r>
            <a:rPr lang="en-US" sz="2000" b="1" i="1" dirty="0"/>
            <a:t>Core Correlation: </a:t>
          </a:r>
          <a:r>
            <a:rPr lang="en-NZ" sz="2000" dirty="0"/>
            <a:t>There is a moderate positive correlation (r = 0.54) between area and price.</a:t>
          </a:r>
          <a:endParaRPr lang="en-US" sz="2000" dirty="0"/>
        </a:p>
      </dgm:t>
    </dgm:pt>
    <dgm:pt modelId="{1AC3D36D-7935-47BD-A8CA-F67C8629DC45}" type="parTrans" cxnId="{04248196-D49D-44AC-9716-E1B3119AF35A}">
      <dgm:prSet/>
      <dgm:spPr/>
      <dgm:t>
        <a:bodyPr/>
        <a:lstStyle/>
        <a:p>
          <a:endParaRPr lang="en-US"/>
        </a:p>
      </dgm:t>
    </dgm:pt>
    <dgm:pt modelId="{101F7FE6-CBF6-488E-9E29-A4EB40BCA0DB}" type="sibTrans" cxnId="{04248196-D49D-44AC-9716-E1B3119AF35A}">
      <dgm:prSet/>
      <dgm:spPr/>
      <dgm:t>
        <a:bodyPr/>
        <a:lstStyle/>
        <a:p>
          <a:endParaRPr lang="en-US"/>
        </a:p>
      </dgm:t>
    </dgm:pt>
    <dgm:pt modelId="{A3B1D413-2F1C-4BC4-9E2C-4B46DCACAFB4}">
      <dgm:prSet custT="1"/>
      <dgm:spPr/>
      <dgm:t>
        <a:bodyPr/>
        <a:lstStyle/>
        <a:p>
          <a:r>
            <a:rPr lang="en-NZ" sz="2000" b="1" dirty="0"/>
            <a:t>Average Specs:</a:t>
          </a:r>
          <a:r>
            <a:rPr lang="en-NZ" sz="2000" dirty="0"/>
            <a:t> Most properties feature ~5,150 sq. ft. with 3 bedrooms.</a:t>
          </a:r>
          <a:endParaRPr lang="en-US" sz="2000" dirty="0"/>
        </a:p>
      </dgm:t>
    </dgm:pt>
    <dgm:pt modelId="{B19613E0-EE6E-4075-B61B-1B52205109D7}" type="parTrans" cxnId="{D25C17E4-3D4F-49C2-8BCB-820EF1869651}">
      <dgm:prSet/>
      <dgm:spPr/>
      <dgm:t>
        <a:bodyPr/>
        <a:lstStyle/>
        <a:p>
          <a:endParaRPr lang="en-US"/>
        </a:p>
      </dgm:t>
    </dgm:pt>
    <dgm:pt modelId="{11A6A316-876F-48DC-AF1A-83879A471AAD}" type="sibTrans" cxnId="{D25C17E4-3D4F-49C2-8BCB-820EF1869651}">
      <dgm:prSet/>
      <dgm:spPr/>
      <dgm:t>
        <a:bodyPr/>
        <a:lstStyle/>
        <a:p>
          <a:endParaRPr lang="en-US"/>
        </a:p>
      </dgm:t>
    </dgm:pt>
    <dgm:pt modelId="{EB2922D9-B702-3D40-BED2-841EC643831A}" type="pres">
      <dgm:prSet presAssocID="{54F30EA3-EFA8-466B-8BA4-A0C5E8C9269F}" presName="linear" presStyleCnt="0">
        <dgm:presLayoutVars>
          <dgm:animLvl val="lvl"/>
          <dgm:resizeHandles val="exact"/>
        </dgm:presLayoutVars>
      </dgm:prSet>
      <dgm:spPr/>
    </dgm:pt>
    <dgm:pt modelId="{AECAFD96-7D9A-E341-8A71-5742C3513C3B}" type="pres">
      <dgm:prSet presAssocID="{1348BB36-4385-48AB-8FAD-D6C736281DF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76F33-7108-9D4E-B277-F74674DFDE4C}" type="pres">
      <dgm:prSet presAssocID="{101F7FE6-CBF6-488E-9E29-A4EB40BCA0DB}" presName="spacer" presStyleCnt="0"/>
      <dgm:spPr/>
    </dgm:pt>
    <dgm:pt modelId="{9D5239A0-3885-044C-B18E-2B2982B630FE}" type="pres">
      <dgm:prSet presAssocID="{A3B1D413-2F1C-4BC4-9E2C-4B46DCACAF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921FB3D-6987-6D43-BAB4-C330C2D26839}" type="presOf" srcId="{54F30EA3-EFA8-466B-8BA4-A0C5E8C9269F}" destId="{EB2922D9-B702-3D40-BED2-841EC643831A}" srcOrd="0" destOrd="0" presId="urn:microsoft.com/office/officeart/2005/8/layout/vList2"/>
    <dgm:cxn modelId="{93FE7463-F429-4C46-BC89-5FC739C1CD3D}" type="presOf" srcId="{1348BB36-4385-48AB-8FAD-D6C736281DF9}" destId="{AECAFD96-7D9A-E341-8A71-5742C3513C3B}" srcOrd="0" destOrd="0" presId="urn:microsoft.com/office/officeart/2005/8/layout/vList2"/>
    <dgm:cxn modelId="{D3149486-2876-D645-922D-69C05A3D952A}" type="presOf" srcId="{A3B1D413-2F1C-4BC4-9E2C-4B46DCACAFB4}" destId="{9D5239A0-3885-044C-B18E-2B2982B630FE}" srcOrd="0" destOrd="0" presId="urn:microsoft.com/office/officeart/2005/8/layout/vList2"/>
    <dgm:cxn modelId="{04248196-D49D-44AC-9716-E1B3119AF35A}" srcId="{54F30EA3-EFA8-466B-8BA4-A0C5E8C9269F}" destId="{1348BB36-4385-48AB-8FAD-D6C736281DF9}" srcOrd="0" destOrd="0" parTransId="{1AC3D36D-7935-47BD-A8CA-F67C8629DC45}" sibTransId="{101F7FE6-CBF6-488E-9E29-A4EB40BCA0DB}"/>
    <dgm:cxn modelId="{D25C17E4-3D4F-49C2-8BCB-820EF1869651}" srcId="{54F30EA3-EFA8-466B-8BA4-A0C5E8C9269F}" destId="{A3B1D413-2F1C-4BC4-9E2C-4B46DCACAFB4}" srcOrd="1" destOrd="0" parTransId="{B19613E0-EE6E-4075-B61B-1B52205109D7}" sibTransId="{11A6A316-876F-48DC-AF1A-83879A471AAD}"/>
    <dgm:cxn modelId="{EB4BC5A5-3792-6349-B9CD-387549146EBF}" type="presParOf" srcId="{EB2922D9-B702-3D40-BED2-841EC643831A}" destId="{AECAFD96-7D9A-E341-8A71-5742C3513C3B}" srcOrd="0" destOrd="0" presId="urn:microsoft.com/office/officeart/2005/8/layout/vList2"/>
    <dgm:cxn modelId="{17CA0913-F679-294A-9997-23017D9AE1B9}" type="presParOf" srcId="{EB2922D9-B702-3D40-BED2-841EC643831A}" destId="{4BD76F33-7108-9D4E-B277-F74674DFDE4C}" srcOrd="1" destOrd="0" presId="urn:microsoft.com/office/officeart/2005/8/layout/vList2"/>
    <dgm:cxn modelId="{B6CE9BF7-3EC4-2C4D-8EC8-D4D301B8C83E}" type="presParOf" srcId="{EB2922D9-B702-3D40-BED2-841EC643831A}" destId="{9D5239A0-3885-044C-B18E-2B2982B630F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F30EA3-EFA8-466B-8BA4-A0C5E8C9269F}" type="doc">
      <dgm:prSet loTypeId="urn:microsoft.com/office/officeart/2005/8/layout/vList2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1348BB36-4385-48AB-8FAD-D6C736281DF9}">
      <dgm:prSet custT="1"/>
      <dgm:spPr/>
      <dgm:t>
        <a:bodyPr/>
        <a:lstStyle/>
        <a:p>
          <a:r>
            <a:rPr lang="en-NZ" sz="1800" b="1" dirty="0"/>
            <a:t>AC Impact:</a:t>
          </a:r>
          <a:r>
            <a:rPr lang="en-NZ" sz="1800" dirty="0"/>
            <a:t> Homes with AC average </a:t>
          </a:r>
          <a:r>
            <a:rPr lang="en-NZ" sz="1800" b="1" dirty="0"/>
            <a:t>$6.01M</a:t>
          </a:r>
          <a:r>
            <a:rPr lang="en-NZ" sz="1800" dirty="0"/>
            <a:t> vs. </a:t>
          </a:r>
          <a:r>
            <a:rPr lang="en-NZ" sz="1800" b="1" dirty="0"/>
            <a:t>$4.19M</a:t>
          </a:r>
          <a:r>
            <a:rPr lang="en-NZ" sz="1800" dirty="0"/>
            <a:t> without it.</a:t>
          </a:r>
          <a:endParaRPr lang="en-US" sz="1800" dirty="0"/>
        </a:p>
      </dgm:t>
    </dgm:pt>
    <dgm:pt modelId="{1AC3D36D-7935-47BD-A8CA-F67C8629DC45}" type="parTrans" cxnId="{04248196-D49D-44AC-9716-E1B3119AF35A}">
      <dgm:prSet/>
      <dgm:spPr/>
      <dgm:t>
        <a:bodyPr/>
        <a:lstStyle/>
        <a:p>
          <a:endParaRPr lang="en-US"/>
        </a:p>
      </dgm:t>
    </dgm:pt>
    <dgm:pt modelId="{101F7FE6-CBF6-488E-9E29-A4EB40BCA0DB}" type="sibTrans" cxnId="{04248196-D49D-44AC-9716-E1B3119AF35A}">
      <dgm:prSet/>
      <dgm:spPr/>
      <dgm:t>
        <a:bodyPr/>
        <a:lstStyle/>
        <a:p>
          <a:endParaRPr lang="en-US"/>
        </a:p>
      </dgm:t>
    </dgm:pt>
    <dgm:pt modelId="{A3B1D413-2F1C-4BC4-9E2C-4B46DCACAFB4}">
      <dgm:prSet custT="1"/>
      <dgm:spPr/>
      <dgm:t>
        <a:bodyPr/>
        <a:lstStyle/>
        <a:p>
          <a:r>
            <a:rPr lang="en-NZ" sz="1600" b="1" dirty="0"/>
            <a:t>Furnishing Status:</a:t>
          </a:r>
          <a:r>
            <a:rPr lang="en-NZ" sz="1600" dirty="0"/>
            <a:t> Fully furnished homes command a </a:t>
          </a:r>
          <a:r>
            <a:rPr lang="en-NZ" sz="1600" b="1" dirty="0"/>
            <a:t>37% premium</a:t>
          </a:r>
          <a:r>
            <a:rPr lang="en-NZ" sz="1600" dirty="0"/>
            <a:t> over unfurnished ones.</a:t>
          </a:r>
          <a:endParaRPr lang="en-US" sz="1600" dirty="0"/>
        </a:p>
      </dgm:t>
    </dgm:pt>
    <dgm:pt modelId="{B19613E0-EE6E-4075-B61B-1B52205109D7}" type="parTrans" cxnId="{D25C17E4-3D4F-49C2-8BCB-820EF1869651}">
      <dgm:prSet/>
      <dgm:spPr/>
      <dgm:t>
        <a:bodyPr/>
        <a:lstStyle/>
        <a:p>
          <a:endParaRPr lang="en-US"/>
        </a:p>
      </dgm:t>
    </dgm:pt>
    <dgm:pt modelId="{11A6A316-876F-48DC-AF1A-83879A471AAD}" type="sibTrans" cxnId="{D25C17E4-3D4F-49C2-8BCB-820EF1869651}">
      <dgm:prSet/>
      <dgm:spPr/>
      <dgm:t>
        <a:bodyPr/>
        <a:lstStyle/>
        <a:p>
          <a:endParaRPr lang="en-US"/>
        </a:p>
      </dgm:t>
    </dgm:pt>
    <dgm:pt modelId="{EB2922D9-B702-3D40-BED2-841EC643831A}" type="pres">
      <dgm:prSet presAssocID="{54F30EA3-EFA8-466B-8BA4-A0C5E8C9269F}" presName="linear" presStyleCnt="0">
        <dgm:presLayoutVars>
          <dgm:animLvl val="lvl"/>
          <dgm:resizeHandles val="exact"/>
        </dgm:presLayoutVars>
      </dgm:prSet>
      <dgm:spPr/>
    </dgm:pt>
    <dgm:pt modelId="{AECAFD96-7D9A-E341-8A71-5742C3513C3B}" type="pres">
      <dgm:prSet presAssocID="{1348BB36-4385-48AB-8FAD-D6C736281DF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76F33-7108-9D4E-B277-F74674DFDE4C}" type="pres">
      <dgm:prSet presAssocID="{101F7FE6-CBF6-488E-9E29-A4EB40BCA0DB}" presName="spacer" presStyleCnt="0"/>
      <dgm:spPr/>
    </dgm:pt>
    <dgm:pt modelId="{9D5239A0-3885-044C-B18E-2B2982B630FE}" type="pres">
      <dgm:prSet presAssocID="{A3B1D413-2F1C-4BC4-9E2C-4B46DCACAF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921FB3D-6987-6D43-BAB4-C330C2D26839}" type="presOf" srcId="{54F30EA3-EFA8-466B-8BA4-A0C5E8C9269F}" destId="{EB2922D9-B702-3D40-BED2-841EC643831A}" srcOrd="0" destOrd="0" presId="urn:microsoft.com/office/officeart/2005/8/layout/vList2"/>
    <dgm:cxn modelId="{93FE7463-F429-4C46-BC89-5FC739C1CD3D}" type="presOf" srcId="{1348BB36-4385-48AB-8FAD-D6C736281DF9}" destId="{AECAFD96-7D9A-E341-8A71-5742C3513C3B}" srcOrd="0" destOrd="0" presId="urn:microsoft.com/office/officeart/2005/8/layout/vList2"/>
    <dgm:cxn modelId="{D3149486-2876-D645-922D-69C05A3D952A}" type="presOf" srcId="{A3B1D413-2F1C-4BC4-9E2C-4B46DCACAFB4}" destId="{9D5239A0-3885-044C-B18E-2B2982B630FE}" srcOrd="0" destOrd="0" presId="urn:microsoft.com/office/officeart/2005/8/layout/vList2"/>
    <dgm:cxn modelId="{04248196-D49D-44AC-9716-E1B3119AF35A}" srcId="{54F30EA3-EFA8-466B-8BA4-A0C5E8C9269F}" destId="{1348BB36-4385-48AB-8FAD-D6C736281DF9}" srcOrd="0" destOrd="0" parTransId="{1AC3D36D-7935-47BD-A8CA-F67C8629DC45}" sibTransId="{101F7FE6-CBF6-488E-9E29-A4EB40BCA0DB}"/>
    <dgm:cxn modelId="{D25C17E4-3D4F-49C2-8BCB-820EF1869651}" srcId="{54F30EA3-EFA8-466B-8BA4-A0C5E8C9269F}" destId="{A3B1D413-2F1C-4BC4-9E2C-4B46DCACAFB4}" srcOrd="1" destOrd="0" parTransId="{B19613E0-EE6E-4075-B61B-1B52205109D7}" sibTransId="{11A6A316-876F-48DC-AF1A-83879A471AAD}"/>
    <dgm:cxn modelId="{EB4BC5A5-3792-6349-B9CD-387549146EBF}" type="presParOf" srcId="{EB2922D9-B702-3D40-BED2-841EC643831A}" destId="{AECAFD96-7D9A-E341-8A71-5742C3513C3B}" srcOrd="0" destOrd="0" presId="urn:microsoft.com/office/officeart/2005/8/layout/vList2"/>
    <dgm:cxn modelId="{17CA0913-F679-294A-9997-23017D9AE1B9}" type="presParOf" srcId="{EB2922D9-B702-3D40-BED2-841EC643831A}" destId="{4BD76F33-7108-9D4E-B277-F74674DFDE4C}" srcOrd="1" destOrd="0" presId="urn:microsoft.com/office/officeart/2005/8/layout/vList2"/>
    <dgm:cxn modelId="{B6CE9BF7-3EC4-2C4D-8EC8-D4D301B8C83E}" type="presParOf" srcId="{EB2922D9-B702-3D40-BED2-841EC643831A}" destId="{9D5239A0-3885-044C-B18E-2B2982B630F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F30EA3-EFA8-466B-8BA4-A0C5E8C9269F}" type="doc">
      <dgm:prSet loTypeId="urn:microsoft.com/office/officeart/2005/8/layout/vList2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1348BB36-4385-48AB-8FAD-D6C736281DF9}">
      <dgm:prSet custT="1"/>
      <dgm:spPr/>
      <dgm:t>
        <a:bodyPr/>
        <a:lstStyle/>
        <a:p>
          <a:r>
            <a:rPr lang="en-NZ" sz="1800" b="1" dirty="0"/>
            <a:t>Location Premium:</a:t>
          </a:r>
          <a:r>
            <a:rPr lang="en-NZ" sz="1800" dirty="0"/>
            <a:t> Homes in a "Preferred Area" cost </a:t>
          </a:r>
          <a:r>
            <a:rPr lang="en-NZ" sz="1800" b="1" dirty="0"/>
            <a:t>$1.4M more</a:t>
          </a:r>
          <a:r>
            <a:rPr lang="en-NZ" sz="1800" dirty="0"/>
            <a:t> on average.</a:t>
          </a:r>
          <a:endParaRPr lang="en-US" sz="1800" dirty="0"/>
        </a:p>
      </dgm:t>
    </dgm:pt>
    <dgm:pt modelId="{1AC3D36D-7935-47BD-A8CA-F67C8629DC45}" type="parTrans" cxnId="{04248196-D49D-44AC-9716-E1B3119AF35A}">
      <dgm:prSet/>
      <dgm:spPr/>
      <dgm:t>
        <a:bodyPr/>
        <a:lstStyle/>
        <a:p>
          <a:endParaRPr lang="en-US"/>
        </a:p>
      </dgm:t>
    </dgm:pt>
    <dgm:pt modelId="{101F7FE6-CBF6-488E-9E29-A4EB40BCA0DB}" type="sibTrans" cxnId="{04248196-D49D-44AC-9716-E1B3119AF35A}">
      <dgm:prSet/>
      <dgm:spPr/>
      <dgm:t>
        <a:bodyPr/>
        <a:lstStyle/>
        <a:p>
          <a:endParaRPr lang="en-US"/>
        </a:p>
      </dgm:t>
    </dgm:pt>
    <dgm:pt modelId="{A3B1D413-2F1C-4BC4-9E2C-4B46DCACAFB4}">
      <dgm:prSet custT="1"/>
      <dgm:spPr/>
      <dgm:t>
        <a:bodyPr/>
        <a:lstStyle/>
        <a:p>
          <a:r>
            <a:rPr lang="en-NZ" sz="1800" b="1" dirty="0"/>
            <a:t>Accessibility:</a:t>
          </a:r>
          <a:r>
            <a:rPr lang="en-NZ" sz="1800" dirty="0"/>
            <a:t> Proximity to main roads and parking capacity significantly increases a property's marketability.</a:t>
          </a:r>
          <a:endParaRPr lang="en-US" sz="1800" dirty="0"/>
        </a:p>
      </dgm:t>
    </dgm:pt>
    <dgm:pt modelId="{B19613E0-EE6E-4075-B61B-1B52205109D7}" type="parTrans" cxnId="{D25C17E4-3D4F-49C2-8BCB-820EF1869651}">
      <dgm:prSet/>
      <dgm:spPr/>
      <dgm:t>
        <a:bodyPr/>
        <a:lstStyle/>
        <a:p>
          <a:endParaRPr lang="en-US"/>
        </a:p>
      </dgm:t>
    </dgm:pt>
    <dgm:pt modelId="{11A6A316-876F-48DC-AF1A-83879A471AAD}" type="sibTrans" cxnId="{D25C17E4-3D4F-49C2-8BCB-820EF1869651}">
      <dgm:prSet/>
      <dgm:spPr/>
      <dgm:t>
        <a:bodyPr/>
        <a:lstStyle/>
        <a:p>
          <a:endParaRPr lang="en-US"/>
        </a:p>
      </dgm:t>
    </dgm:pt>
    <dgm:pt modelId="{EB2922D9-B702-3D40-BED2-841EC643831A}" type="pres">
      <dgm:prSet presAssocID="{54F30EA3-EFA8-466B-8BA4-A0C5E8C9269F}" presName="linear" presStyleCnt="0">
        <dgm:presLayoutVars>
          <dgm:animLvl val="lvl"/>
          <dgm:resizeHandles val="exact"/>
        </dgm:presLayoutVars>
      </dgm:prSet>
      <dgm:spPr/>
    </dgm:pt>
    <dgm:pt modelId="{AECAFD96-7D9A-E341-8A71-5742C3513C3B}" type="pres">
      <dgm:prSet presAssocID="{1348BB36-4385-48AB-8FAD-D6C736281DF9}" presName="parentText" presStyleLbl="node1" presStyleIdx="0" presStyleCnt="2" custLinFactY="-11549" custLinFactNeighborX="-8911" custLinFactNeighborY="-100000">
        <dgm:presLayoutVars>
          <dgm:chMax val="0"/>
          <dgm:bulletEnabled val="1"/>
        </dgm:presLayoutVars>
      </dgm:prSet>
      <dgm:spPr/>
    </dgm:pt>
    <dgm:pt modelId="{4BD76F33-7108-9D4E-B277-F74674DFDE4C}" type="pres">
      <dgm:prSet presAssocID="{101F7FE6-CBF6-488E-9E29-A4EB40BCA0DB}" presName="spacer" presStyleCnt="0"/>
      <dgm:spPr/>
    </dgm:pt>
    <dgm:pt modelId="{9D5239A0-3885-044C-B18E-2B2982B630FE}" type="pres">
      <dgm:prSet presAssocID="{A3B1D413-2F1C-4BC4-9E2C-4B46DCACAFB4}" presName="parentText" presStyleLbl="node1" presStyleIdx="1" presStyleCnt="2" custLinFactNeighborX="-645" custLinFactNeighborY="33898">
        <dgm:presLayoutVars>
          <dgm:chMax val="0"/>
          <dgm:bulletEnabled val="1"/>
        </dgm:presLayoutVars>
      </dgm:prSet>
      <dgm:spPr/>
    </dgm:pt>
  </dgm:ptLst>
  <dgm:cxnLst>
    <dgm:cxn modelId="{F921FB3D-6987-6D43-BAB4-C330C2D26839}" type="presOf" srcId="{54F30EA3-EFA8-466B-8BA4-A0C5E8C9269F}" destId="{EB2922D9-B702-3D40-BED2-841EC643831A}" srcOrd="0" destOrd="0" presId="urn:microsoft.com/office/officeart/2005/8/layout/vList2"/>
    <dgm:cxn modelId="{93FE7463-F429-4C46-BC89-5FC739C1CD3D}" type="presOf" srcId="{1348BB36-4385-48AB-8FAD-D6C736281DF9}" destId="{AECAFD96-7D9A-E341-8A71-5742C3513C3B}" srcOrd="0" destOrd="0" presId="urn:microsoft.com/office/officeart/2005/8/layout/vList2"/>
    <dgm:cxn modelId="{D3149486-2876-D645-922D-69C05A3D952A}" type="presOf" srcId="{A3B1D413-2F1C-4BC4-9E2C-4B46DCACAFB4}" destId="{9D5239A0-3885-044C-B18E-2B2982B630FE}" srcOrd="0" destOrd="0" presId="urn:microsoft.com/office/officeart/2005/8/layout/vList2"/>
    <dgm:cxn modelId="{04248196-D49D-44AC-9716-E1B3119AF35A}" srcId="{54F30EA3-EFA8-466B-8BA4-A0C5E8C9269F}" destId="{1348BB36-4385-48AB-8FAD-D6C736281DF9}" srcOrd="0" destOrd="0" parTransId="{1AC3D36D-7935-47BD-A8CA-F67C8629DC45}" sibTransId="{101F7FE6-CBF6-488E-9E29-A4EB40BCA0DB}"/>
    <dgm:cxn modelId="{D25C17E4-3D4F-49C2-8BCB-820EF1869651}" srcId="{54F30EA3-EFA8-466B-8BA4-A0C5E8C9269F}" destId="{A3B1D413-2F1C-4BC4-9E2C-4B46DCACAFB4}" srcOrd="1" destOrd="0" parTransId="{B19613E0-EE6E-4075-B61B-1B52205109D7}" sibTransId="{11A6A316-876F-48DC-AF1A-83879A471AAD}"/>
    <dgm:cxn modelId="{EB4BC5A5-3792-6349-B9CD-387549146EBF}" type="presParOf" srcId="{EB2922D9-B702-3D40-BED2-841EC643831A}" destId="{AECAFD96-7D9A-E341-8A71-5742C3513C3B}" srcOrd="0" destOrd="0" presId="urn:microsoft.com/office/officeart/2005/8/layout/vList2"/>
    <dgm:cxn modelId="{17CA0913-F679-294A-9997-23017D9AE1B9}" type="presParOf" srcId="{EB2922D9-B702-3D40-BED2-841EC643831A}" destId="{4BD76F33-7108-9D4E-B277-F74674DFDE4C}" srcOrd="1" destOrd="0" presId="urn:microsoft.com/office/officeart/2005/8/layout/vList2"/>
    <dgm:cxn modelId="{B6CE9BF7-3EC4-2C4D-8EC8-D4D301B8C83E}" type="presParOf" srcId="{EB2922D9-B702-3D40-BED2-841EC643831A}" destId="{9D5239A0-3885-044C-B18E-2B2982B630F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AFD96-7D9A-E341-8A71-5742C3513C3B}">
      <dsp:nvSpPr>
        <dsp:cNvPr id="0" name=""/>
        <dsp:cNvSpPr/>
      </dsp:nvSpPr>
      <dsp:spPr>
        <a:xfrm>
          <a:off x="0" y="12748"/>
          <a:ext cx="61723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kern="1200" dirty="0"/>
            <a:t>Core Correlation: </a:t>
          </a:r>
          <a:r>
            <a:rPr lang="en-NZ" sz="2000" kern="1200" dirty="0"/>
            <a:t>There is a moderate positive correlation (r = 0.54) between area and price.</a:t>
          </a:r>
          <a:endParaRPr lang="en-US" sz="2000" kern="1200" dirty="0"/>
        </a:p>
      </dsp:txBody>
      <dsp:txXfrm>
        <a:off x="42036" y="54784"/>
        <a:ext cx="6088228" cy="777048"/>
      </dsp:txXfrm>
    </dsp:sp>
    <dsp:sp modelId="{9D5239A0-3885-044C-B18E-2B2982B630FE}">
      <dsp:nvSpPr>
        <dsp:cNvPr id="0" name=""/>
        <dsp:cNvSpPr/>
      </dsp:nvSpPr>
      <dsp:spPr>
        <a:xfrm>
          <a:off x="0" y="1006349"/>
          <a:ext cx="61723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b="1" kern="1200" dirty="0"/>
            <a:t>Average Specs:</a:t>
          </a:r>
          <a:r>
            <a:rPr lang="en-NZ" sz="2000" kern="1200" dirty="0"/>
            <a:t> Most properties feature ~5,150 sq. ft. with 3 bedrooms.</a:t>
          </a:r>
          <a:endParaRPr lang="en-US" sz="2000" kern="1200" dirty="0"/>
        </a:p>
      </dsp:txBody>
      <dsp:txXfrm>
        <a:off x="42036" y="1048385"/>
        <a:ext cx="6088228" cy="777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AFD96-7D9A-E341-8A71-5742C3513C3B}">
      <dsp:nvSpPr>
        <dsp:cNvPr id="0" name=""/>
        <dsp:cNvSpPr/>
      </dsp:nvSpPr>
      <dsp:spPr>
        <a:xfrm>
          <a:off x="0" y="2785"/>
          <a:ext cx="6080601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b="1" kern="1200" dirty="0"/>
            <a:t>AC Impact:</a:t>
          </a:r>
          <a:r>
            <a:rPr lang="en-NZ" sz="1800" kern="1200" dirty="0"/>
            <a:t> Homes with AC average </a:t>
          </a:r>
          <a:r>
            <a:rPr lang="en-NZ" sz="1800" b="1" kern="1200" dirty="0"/>
            <a:t>$6.01M</a:t>
          </a:r>
          <a:r>
            <a:rPr lang="en-NZ" sz="1800" kern="1200" dirty="0"/>
            <a:t> vs. </a:t>
          </a:r>
          <a:r>
            <a:rPr lang="en-NZ" sz="1800" b="1" kern="1200" dirty="0"/>
            <a:t>$4.19M</a:t>
          </a:r>
          <a:r>
            <a:rPr lang="en-NZ" sz="1800" kern="1200" dirty="0"/>
            <a:t> without it.</a:t>
          </a:r>
          <a:endParaRPr lang="en-US" sz="1800" kern="1200" dirty="0"/>
        </a:p>
      </dsp:txBody>
      <dsp:txXfrm>
        <a:off x="37467" y="40252"/>
        <a:ext cx="6005667" cy="692586"/>
      </dsp:txXfrm>
    </dsp:sp>
    <dsp:sp modelId="{9D5239A0-3885-044C-B18E-2B2982B630FE}">
      <dsp:nvSpPr>
        <dsp:cNvPr id="0" name=""/>
        <dsp:cNvSpPr/>
      </dsp:nvSpPr>
      <dsp:spPr>
        <a:xfrm>
          <a:off x="0" y="888385"/>
          <a:ext cx="6080601" cy="767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b="1" kern="1200" dirty="0"/>
            <a:t>Furnishing Status:</a:t>
          </a:r>
          <a:r>
            <a:rPr lang="en-NZ" sz="1600" kern="1200" dirty="0"/>
            <a:t> Fully furnished homes command a </a:t>
          </a:r>
          <a:r>
            <a:rPr lang="en-NZ" sz="1600" b="1" kern="1200" dirty="0"/>
            <a:t>37% premium</a:t>
          </a:r>
          <a:r>
            <a:rPr lang="en-NZ" sz="1600" kern="1200" dirty="0"/>
            <a:t> over unfurnished ones.</a:t>
          </a:r>
          <a:endParaRPr lang="en-US" sz="1600" kern="1200" dirty="0"/>
        </a:p>
      </dsp:txBody>
      <dsp:txXfrm>
        <a:off x="37467" y="925852"/>
        <a:ext cx="6005667" cy="692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AFD96-7D9A-E341-8A71-5742C3513C3B}">
      <dsp:nvSpPr>
        <dsp:cNvPr id="0" name=""/>
        <dsp:cNvSpPr/>
      </dsp:nvSpPr>
      <dsp:spPr>
        <a:xfrm>
          <a:off x="0" y="0"/>
          <a:ext cx="5732971" cy="692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b="1" kern="1200" dirty="0"/>
            <a:t>Location Premium:</a:t>
          </a:r>
          <a:r>
            <a:rPr lang="en-NZ" sz="1800" kern="1200" dirty="0"/>
            <a:t> Homes in a "Preferred Area" cost </a:t>
          </a:r>
          <a:r>
            <a:rPr lang="en-NZ" sz="1800" b="1" kern="1200" dirty="0"/>
            <a:t>$1.4M more</a:t>
          </a:r>
          <a:r>
            <a:rPr lang="en-NZ" sz="1800" kern="1200" dirty="0"/>
            <a:t> on average.</a:t>
          </a:r>
          <a:endParaRPr lang="en-US" sz="1800" kern="1200" dirty="0"/>
        </a:p>
      </dsp:txBody>
      <dsp:txXfrm>
        <a:off x="33812" y="33812"/>
        <a:ext cx="5665347" cy="625016"/>
      </dsp:txXfrm>
    </dsp:sp>
    <dsp:sp modelId="{9D5239A0-3885-044C-B18E-2B2982B630FE}">
      <dsp:nvSpPr>
        <dsp:cNvPr id="0" name=""/>
        <dsp:cNvSpPr/>
      </dsp:nvSpPr>
      <dsp:spPr>
        <a:xfrm>
          <a:off x="0" y="802373"/>
          <a:ext cx="5732971" cy="6926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b="1" kern="1200" dirty="0"/>
            <a:t>Accessibility:</a:t>
          </a:r>
          <a:r>
            <a:rPr lang="en-NZ" sz="1800" kern="1200" dirty="0"/>
            <a:t> Proximity to main roads and parking capacity significantly increases a property's marketability.</a:t>
          </a:r>
          <a:endParaRPr lang="en-US" sz="1800" kern="1200" dirty="0"/>
        </a:p>
      </dsp:txBody>
      <dsp:txXfrm>
        <a:off x="33812" y="836185"/>
        <a:ext cx="5665347" cy="625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151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29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725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5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0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1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4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8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7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5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6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60" r:id="rId6"/>
    <p:sldLayoutId id="2147483755" r:id="rId7"/>
    <p:sldLayoutId id="2147483756" r:id="rId8"/>
    <p:sldLayoutId id="2147483757" r:id="rId9"/>
    <p:sldLayoutId id="2147483759" r:id="rId10"/>
    <p:sldLayoutId id="2147483758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1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AB7CFDD-E67B-4078-9BD0-D09D4200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93876B-F307-3488-3FAC-80EB7191AD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2791"/>
          <a:stretch>
            <a:fillRect/>
          </a:stretch>
        </p:blipFill>
        <p:spPr>
          <a:xfrm>
            <a:off x="-1" y="10"/>
            <a:ext cx="12192000" cy="685798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AEF25D-C97E-48E9-B20C-FEFC2EC6E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3200"/>
            <a:ext cx="12191999" cy="53848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42000">
                <a:srgbClr val="000000">
                  <a:alpha val="41000"/>
                </a:srgbClr>
              </a:gs>
              <a:gs pos="100000">
                <a:srgbClr val="000000">
                  <a:alpha val="6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0836F-980A-067B-FA10-C86205E14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5401" y="1066801"/>
            <a:ext cx="7272408" cy="15776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cap="none">
                <a:solidFill>
                  <a:schemeClr val="tx1"/>
                </a:solidFill>
                <a:latin typeface="+mn-lt"/>
              </a:rPr>
              <a:t>Decoding the Housing Market</a:t>
            </a:r>
            <a:endParaRPr lang="en-US" sz="4400" cap="non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E7740AF-337C-75B8-FB12-BF40737AE1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4325" y="4592708"/>
            <a:ext cx="9814560" cy="1257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A Descriptive Study of 545 Residential Properties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800">
              <a:solidFill>
                <a:srgbClr val="FFFFFF"/>
              </a:solidFill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>
                <a:solidFill>
                  <a:srgbClr val="FFFFFF"/>
                </a:solidFill>
              </a:rPr>
              <a:t>Presenter:</a:t>
            </a:r>
            <a:r>
              <a:rPr lang="en-US">
                <a:solidFill>
                  <a:srgbClr val="FFFFFF"/>
                </a:solidFill>
              </a:rPr>
              <a:t> Earl Tavera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1B7537E-7B93-4306-B9DF-4CD583E0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37480"/>
            <a:ext cx="867485" cy="115439"/>
            <a:chOff x="8910933" y="1861308"/>
            <a:chExt cx="867485" cy="11543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AB796C-11E6-468E-9C0D-38940D8E2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FC9ACE4-DF02-4B56-B482-DDAD2EC09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99CC309-9401-4122-8206-A304650EF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733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9D3B3C7E-BC2D-4436-8B03-AC421FA6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9B5D0C1-066E-4C02-A6B8-59FAE4A1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DBEA261-C1DE-01FE-8EE2-158A2B3E5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83" name="Rectangle 5">
            <a:extLst>
              <a:ext uri="{FF2B5EF4-FFF2-40B4-BE49-F238E27FC236}">
                <a16:creationId xmlns:a16="http://schemas.microsoft.com/office/drawing/2014/main" id="{FDCD62BB-F134-412E-AF5B-602B0445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50337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6E2D7-FF2C-BBC3-5FE3-DC5DF06E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561" y="1066801"/>
            <a:ext cx="3931320" cy="22776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kern="1200" cap="all" spc="39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Physical Baseline </a:t>
            </a:r>
            <a:br>
              <a:rPr lang="en-US" sz="2800" b="1" kern="1200" cap="all" spc="39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cap="all" spc="39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(Size Matters)</a:t>
            </a:r>
            <a:br>
              <a:rPr lang="en-US" sz="2800" b="1" kern="1200" cap="all" spc="39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b="1" kern="1200" cap="all" spc="39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3775F40-37A0-57AF-2F00-14CB27A6F7B9}"/>
              </a:ext>
            </a:extLst>
          </p:cNvPr>
          <p:cNvSpPr txBox="1"/>
          <p:nvPr/>
        </p:nvSpPr>
        <p:spPr>
          <a:xfrm>
            <a:off x="1364343" y="4379879"/>
            <a:ext cx="62121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800" dirty="0"/>
              <a:t>Land Area vs. Price</a:t>
            </a:r>
            <a:br>
              <a:rPr lang="en-US" sz="2800" b="1" kern="1200" cap="all" spc="390" baseline="0" dirty="0">
                <a:solidFill>
                  <a:schemeClr val="tx2"/>
                </a:solidFill>
                <a:ea typeface="+mj-ea"/>
                <a:cs typeface="+mj-cs"/>
              </a:rPr>
            </a:br>
            <a:endParaRPr lang="en-US" sz="2800" dirty="0"/>
          </a:p>
        </p:txBody>
      </p:sp>
      <p:graphicFrame>
        <p:nvGraphicFramePr>
          <p:cNvPr id="90" name="TextBox 22">
            <a:extLst>
              <a:ext uri="{FF2B5EF4-FFF2-40B4-BE49-F238E27FC236}">
                <a16:creationId xmlns:a16="http://schemas.microsoft.com/office/drawing/2014/main" id="{67ECB7D1-AE7B-5C9A-41BC-AC649964FC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4452777"/>
              </p:ext>
            </p:extLst>
          </p:nvPr>
        </p:nvGraphicFramePr>
        <p:xfrm>
          <a:off x="5581661" y="684890"/>
          <a:ext cx="6172300" cy="1880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72533C6-509C-A881-90E2-ABAB4B4C0180}"/>
              </a:ext>
            </a:extLst>
          </p:cNvPr>
          <p:cNvSpPr txBox="1"/>
          <p:nvPr/>
        </p:nvSpPr>
        <p:spPr>
          <a:xfrm>
            <a:off x="5967160" y="4707863"/>
            <a:ext cx="5732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400" dirty="0">
                <a:solidFill>
                  <a:schemeClr val="bg1"/>
                </a:solidFill>
              </a:rPr>
              <a:t>Size sets the "floor" for the price, but doesn't explain the "ceiling."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35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18B26-AD72-BEC0-B0E7-2B2982B6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2C38A1E1-A73A-5396-1C3D-928A49F44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D41B2B5-F21C-14FB-4C35-77B4A5BD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7389754-A758-883E-18B4-F205F85F5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D3663DE-CC7D-CFBA-3284-A57CE7C0B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03B7E11-3777-A9E3-D789-7CEB9692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78652A6D-66E8-979E-EEA2-B21B4CD6F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93BDEB7-FF8E-9083-76C2-9E1603B31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83" name="Rectangle 5">
            <a:extLst>
              <a:ext uri="{FF2B5EF4-FFF2-40B4-BE49-F238E27FC236}">
                <a16:creationId xmlns:a16="http://schemas.microsoft.com/office/drawing/2014/main" id="{118C96B5-D018-0F3E-179C-1B405CB64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50337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1B8D4-3C4F-C9FD-1E73-3D5DA87B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561" y="1066801"/>
            <a:ext cx="3931320" cy="16276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NZ" b="1" i="1" dirty="0"/>
              <a:t>The ”Luxury factor" (Amenities)</a:t>
            </a:r>
            <a:endParaRPr lang="en-US" b="1" i="1" kern="1200" cap="all" spc="390" baseline="0" dirty="0">
              <a:solidFill>
                <a:schemeClr val="tx2"/>
              </a:solidFill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75E1A1F-B271-8787-CC4F-059AB282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B970D1F-BFEB-88CA-4469-3BEC8E105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43AA60C-C6F1-95EB-7763-51D0938E1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03453B5-7F36-8B42-EB92-B16BD339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EE1B3DE-BD52-BD04-CA33-C537C50DE4A0}"/>
              </a:ext>
            </a:extLst>
          </p:cNvPr>
          <p:cNvSpPr txBox="1"/>
          <p:nvPr/>
        </p:nvSpPr>
        <p:spPr>
          <a:xfrm>
            <a:off x="849186" y="4216653"/>
            <a:ext cx="4317900" cy="83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sz="2400" dirty="0"/>
              <a:t>The Power of Air Conditioning &amp; Furnishing</a:t>
            </a:r>
            <a:endParaRPr lang="en-US" sz="2400" dirty="0"/>
          </a:p>
        </p:txBody>
      </p:sp>
      <p:graphicFrame>
        <p:nvGraphicFramePr>
          <p:cNvPr id="90" name="TextBox 22">
            <a:extLst>
              <a:ext uri="{FF2B5EF4-FFF2-40B4-BE49-F238E27FC236}">
                <a16:creationId xmlns:a16="http://schemas.microsoft.com/office/drawing/2014/main" id="{563D581C-9C15-C183-5D78-4EAA56F317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122991"/>
              </p:ext>
            </p:extLst>
          </p:nvPr>
        </p:nvGraphicFramePr>
        <p:xfrm>
          <a:off x="5627511" y="750337"/>
          <a:ext cx="6080601" cy="1658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6BF1D68-2C31-188A-509B-31FF2C3F0C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4197" y="2516552"/>
            <a:ext cx="5328617" cy="3252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12E6F0-6361-48E2-0FA9-4CB9837168D2}"/>
              </a:ext>
            </a:extLst>
          </p:cNvPr>
          <p:cNvSpPr txBox="1"/>
          <p:nvPr/>
        </p:nvSpPr>
        <p:spPr>
          <a:xfrm>
            <a:off x="5425440" y="5820769"/>
            <a:ext cx="6847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b="1" dirty="0">
                <a:solidFill>
                  <a:schemeClr val="bg1"/>
                </a:solidFill>
              </a:rPr>
              <a:t>Descriptive aggregation shows that adding AC increases the average price by nearly 43% ($1.8M), which is a massive ROI compared to simply adding more square footage."</a:t>
            </a:r>
            <a:r>
              <a:rPr lang="en-NZ" sz="1600" dirty="0">
                <a:solidFill>
                  <a:schemeClr val="bg1"/>
                </a:solidFill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27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D3B15-F169-910B-1DDB-FC2CBD411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9AA6DC90-402C-F4CA-C4C2-C265341D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1B2088C-F1DA-92DB-F2FA-D46D70F7D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5633A9D-DA7D-B876-500E-082309CF7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130657E-D8B3-18F4-1953-8AF1A371E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1A44617-0E9B-51A0-46FA-450031AB2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802088C7-0CF4-6F16-F224-9E0360747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293E7A6-1976-9898-3800-A2E8DC564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10"/>
            <a:ext cx="12191980" cy="6857989"/>
          </a:xfrm>
          <a:prstGeom prst="rect">
            <a:avLst/>
          </a:prstGeom>
        </p:spPr>
      </p:pic>
      <p:sp>
        <p:nvSpPr>
          <p:cNvPr id="83" name="Rectangle 5">
            <a:extLst>
              <a:ext uri="{FF2B5EF4-FFF2-40B4-BE49-F238E27FC236}">
                <a16:creationId xmlns:a16="http://schemas.microsoft.com/office/drawing/2014/main" id="{BD4A6616-6135-16CE-F1BB-169099613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50337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556DE-997D-B156-051D-DE95C5CEF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48" y="1164866"/>
            <a:ext cx="3931320" cy="17321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NZ" b="1" i="1" dirty="0"/>
              <a:t>Location </a:t>
            </a:r>
            <a:br>
              <a:rPr lang="en-NZ" b="1" i="1" dirty="0"/>
            </a:br>
            <a:r>
              <a:rPr lang="en-NZ" b="1" i="1" dirty="0"/>
              <a:t>&amp;</a:t>
            </a:r>
            <a:br>
              <a:rPr lang="en-NZ" b="1" i="1" dirty="0"/>
            </a:br>
            <a:r>
              <a:rPr lang="en-NZ" b="1" i="1" dirty="0"/>
              <a:t> Infrastructure</a:t>
            </a:r>
            <a:endParaRPr lang="en-US" b="1" i="1" kern="1200" cap="all" spc="390" baseline="0" dirty="0">
              <a:solidFill>
                <a:schemeClr val="tx2"/>
              </a:solidFill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13E27E7-C9A1-F6F6-01AB-0D334725C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41A6206-B37F-1C20-1237-5B1DB09EA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FFFB89E-8587-01D5-E1BE-776BA6F13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DF18C78-BA6A-8BFA-A2BA-B39365B3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9CBEBCB-DC92-D7F5-3ABF-64594BF4A9D4}"/>
              </a:ext>
            </a:extLst>
          </p:cNvPr>
          <p:cNvSpPr txBox="1"/>
          <p:nvPr/>
        </p:nvSpPr>
        <p:spPr>
          <a:xfrm>
            <a:off x="949795" y="4290732"/>
            <a:ext cx="6212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dirty="0"/>
              <a:t>The Value of  "Preferred Areas"</a:t>
            </a:r>
            <a:endParaRPr lang="en-US" sz="2400" dirty="0"/>
          </a:p>
        </p:txBody>
      </p:sp>
      <p:graphicFrame>
        <p:nvGraphicFramePr>
          <p:cNvPr id="90" name="TextBox 22">
            <a:extLst>
              <a:ext uri="{FF2B5EF4-FFF2-40B4-BE49-F238E27FC236}">
                <a16:creationId xmlns:a16="http://schemas.microsoft.com/office/drawing/2014/main" id="{341D0EF4-13B5-92C0-938D-9A6329BC2D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1384575"/>
              </p:ext>
            </p:extLst>
          </p:nvPr>
        </p:nvGraphicFramePr>
        <p:xfrm>
          <a:off x="5735129" y="773642"/>
          <a:ext cx="5732971" cy="1495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698F321-75DD-E1E0-3C02-7A2AD18479E4}"/>
              </a:ext>
            </a:extLst>
          </p:cNvPr>
          <p:cNvSpPr txBox="1"/>
          <p:nvPr/>
        </p:nvSpPr>
        <p:spPr>
          <a:xfrm>
            <a:off x="5465462" y="6002599"/>
            <a:ext cx="621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600" dirty="0">
                <a:solidFill>
                  <a:schemeClr val="bg1"/>
                </a:solidFill>
              </a:rPr>
              <a:t>You can't change a house's location; the market places a heavy premium on prestige and connectivity.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B93C8-926D-1A87-7AA3-DBBF6C80AA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8441" y="2390242"/>
            <a:ext cx="5906346" cy="362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4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903" y="159026"/>
            <a:ext cx="5778697" cy="6542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AA27D-38C1-8A60-AF1A-62E357AD5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0" y="512068"/>
            <a:ext cx="5364480" cy="5974076"/>
          </a:xfrm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NZ" b="1" dirty="0"/>
              <a:t>Conclusion &amp; Strategy</a:t>
            </a:r>
          </a:p>
          <a:p>
            <a:pPr algn="ctr">
              <a:lnSpc>
                <a:spcPct val="100000"/>
              </a:lnSpc>
            </a:pPr>
            <a:r>
              <a:rPr lang="en-NZ" dirty="0"/>
              <a:t>Summary:  The Ideal Investment</a:t>
            </a:r>
          </a:p>
          <a:p>
            <a:pPr algn="ctr">
              <a:lnSpc>
                <a:spcPct val="100000"/>
              </a:lnSpc>
            </a:pPr>
            <a:endParaRPr lang="en-NZ" dirty="0"/>
          </a:p>
          <a:p>
            <a:pPr algn="ctr">
              <a:lnSpc>
                <a:spcPct val="100000"/>
              </a:lnSpc>
            </a:pPr>
            <a:r>
              <a:rPr lang="en-NZ" b="1" dirty="0"/>
              <a:t>Key Takeaways:</a:t>
            </a:r>
            <a:endParaRPr lang="en-NZ" dirty="0"/>
          </a:p>
          <a:p>
            <a:pPr lvl="1">
              <a:lnSpc>
                <a:spcPct val="100000"/>
              </a:lnSpc>
            </a:pPr>
            <a:r>
              <a:rPr lang="en-NZ" sz="2000" b="1" dirty="0"/>
              <a:t>For Sellers:</a:t>
            </a:r>
            <a:r>
              <a:rPr lang="en-NZ" sz="2000" dirty="0"/>
              <a:t> Installing AC and semi-furnishing a home yields a higher ROI than major structural changes.</a:t>
            </a:r>
          </a:p>
          <a:p>
            <a:pPr lvl="1">
              <a:lnSpc>
                <a:spcPct val="100000"/>
              </a:lnSpc>
            </a:pPr>
            <a:r>
              <a:rPr lang="en-NZ" sz="2000" b="1" dirty="0"/>
              <a:t>For Buyers:</a:t>
            </a:r>
            <a:r>
              <a:rPr lang="en-NZ" sz="2000" dirty="0"/>
              <a:t> The best "value" is found in unfurnished homes in preferred areas—size is fixed, but amenities can be added.</a:t>
            </a:r>
          </a:p>
          <a:p>
            <a:pPr marL="45720" lvl="1" indent="0">
              <a:lnSpc>
                <a:spcPct val="100000"/>
              </a:lnSpc>
              <a:buNone/>
            </a:pPr>
            <a:endParaRPr lang="en-NZ" sz="2000" dirty="0"/>
          </a:p>
          <a:p>
            <a:pPr algn="ctr">
              <a:lnSpc>
                <a:spcPct val="100000"/>
              </a:lnSpc>
            </a:pPr>
            <a:r>
              <a:rPr lang="en-NZ" b="1" dirty="0"/>
              <a:t>Final Thought:</a:t>
            </a:r>
            <a:r>
              <a:rPr lang="en-NZ" dirty="0"/>
              <a:t> Data shows that comfort and location outweigh raw square footage in the high-end market.</a:t>
            </a:r>
          </a:p>
          <a:p>
            <a:pPr algn="ctr">
              <a:lnSpc>
                <a:spcPct val="100000"/>
              </a:lnSpc>
            </a:pPr>
            <a:endParaRPr lang="en-US" dirty="0"/>
          </a:p>
        </p:txBody>
      </p:sp>
      <p:pic>
        <p:nvPicPr>
          <p:cNvPr id="5" name="Picture 4" descr="Key on a blueprint for a house">
            <a:extLst>
              <a:ext uri="{FF2B5EF4-FFF2-40B4-BE49-F238E27FC236}">
                <a16:creationId xmlns:a16="http://schemas.microsoft.com/office/drawing/2014/main" id="{8E736E19-0C6D-263C-8E1D-27D0D2A019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8433" r="4901"/>
          <a:stretch>
            <a:fillRect/>
          </a:stretch>
        </p:blipFill>
        <p:spPr>
          <a:xfrm>
            <a:off x="1681" y="10"/>
            <a:ext cx="6106821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3745597-CF0F-4C14-83C4-612B382A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8" y="5849932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1CB755-D435-4BD8-A3DB-B304ED0E7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7F2CAE-48A1-4EAD-BDD1-4DA217AC0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8FB73A0-9D61-4989-BA5F-7EF6308D8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6711327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Bembo</vt:lpstr>
      <vt:lpstr>AdornVTI</vt:lpstr>
      <vt:lpstr>Decoding the Housing Market</vt:lpstr>
      <vt:lpstr>The Physical Baseline  (Size Matters) </vt:lpstr>
      <vt:lpstr>The ”Luxury factor" (Amenities)</vt:lpstr>
      <vt:lpstr>Location  &amp;  Infrastructure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Earl Destriza Tavera</dc:creator>
  <cp:lastModifiedBy>Earl Destriza Tavera</cp:lastModifiedBy>
  <cp:revision>1</cp:revision>
  <dcterms:created xsi:type="dcterms:W3CDTF">2026-04-12T10:02:07Z</dcterms:created>
  <dcterms:modified xsi:type="dcterms:W3CDTF">2026-04-12T11:12:23Z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2026-04-12T11:12:23Z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ff8dd01b-0148-40a1-9d10-ad598902a86b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50, 3, 0, 1</vt:lpwstr>
  </property>
</Properties>
</file>