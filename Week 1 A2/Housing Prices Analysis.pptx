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1" r:id="rId1"/>
  </p:sldMasterIdLst>
  <p:sldIdLst>
    <p:sldId id="256" r:id="rId2"/>
    <p:sldId id="257" r:id="rId3"/>
    <p:sldId id="259" r:id="rId4"/>
    <p:sldId id="260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712"/>
  </p:normalViewPr>
  <p:slideViewPr>
    <p:cSldViewPr snapToGrid="0">
      <p:cViewPr varScale="1">
        <p:scale>
          <a:sx n="105" d="100"/>
          <a:sy n="105" d="100"/>
        </p:scale>
        <p:origin x="6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1">
  <dgm:title val=""/>
  <dgm:desc val=""/>
  <dgm:catLst>
    <dgm:cat type="accent4" pri="11100"/>
  </dgm:catLst>
  <dgm:styleLbl name="node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4">
        <a:alpha val="4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4_1">
  <dgm:title val=""/>
  <dgm:desc val=""/>
  <dgm:catLst>
    <dgm:cat type="accent4" pri="11100"/>
  </dgm:catLst>
  <dgm:styleLbl name="node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4">
        <a:alpha val="4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4_1">
  <dgm:title val=""/>
  <dgm:desc val=""/>
  <dgm:catLst>
    <dgm:cat type="accent4" pri="11100"/>
  </dgm:catLst>
  <dgm:styleLbl name="node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4">
        <a:alpha val="4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4F30EA3-EFA8-466B-8BA4-A0C5E8C9269F}" type="doc">
      <dgm:prSet loTypeId="urn:microsoft.com/office/officeart/2005/8/layout/vList2" loCatId="list" qsTypeId="urn:microsoft.com/office/officeart/2005/8/quickstyle/simple1" qsCatId="simple" csTypeId="urn:microsoft.com/office/officeart/2005/8/colors/accent4_1" csCatId="accent4" phldr="1"/>
      <dgm:spPr/>
      <dgm:t>
        <a:bodyPr/>
        <a:lstStyle/>
        <a:p>
          <a:endParaRPr lang="en-US"/>
        </a:p>
      </dgm:t>
    </dgm:pt>
    <dgm:pt modelId="{1348BB36-4385-48AB-8FAD-D6C736281DF9}">
      <dgm:prSet custT="1"/>
      <dgm:spPr/>
      <dgm:t>
        <a:bodyPr/>
        <a:lstStyle/>
        <a:p>
          <a:r>
            <a:rPr lang="en-US" sz="2000" b="1" i="1" dirty="0"/>
            <a:t>Core Correlation: </a:t>
          </a:r>
          <a:r>
            <a:rPr lang="en-NZ" sz="2000" dirty="0"/>
            <a:t>There is a moderate positive correlation (r = 0.54) between area and price.</a:t>
          </a:r>
          <a:endParaRPr lang="en-US" sz="2000" dirty="0"/>
        </a:p>
      </dgm:t>
    </dgm:pt>
    <dgm:pt modelId="{1AC3D36D-7935-47BD-A8CA-F67C8629DC45}" type="parTrans" cxnId="{04248196-D49D-44AC-9716-E1B3119AF35A}">
      <dgm:prSet/>
      <dgm:spPr/>
      <dgm:t>
        <a:bodyPr/>
        <a:lstStyle/>
        <a:p>
          <a:endParaRPr lang="en-US"/>
        </a:p>
      </dgm:t>
    </dgm:pt>
    <dgm:pt modelId="{101F7FE6-CBF6-488E-9E29-A4EB40BCA0DB}" type="sibTrans" cxnId="{04248196-D49D-44AC-9716-E1B3119AF35A}">
      <dgm:prSet/>
      <dgm:spPr/>
      <dgm:t>
        <a:bodyPr/>
        <a:lstStyle/>
        <a:p>
          <a:endParaRPr lang="en-US"/>
        </a:p>
      </dgm:t>
    </dgm:pt>
    <dgm:pt modelId="{A3B1D413-2F1C-4BC4-9E2C-4B46DCACAFB4}">
      <dgm:prSet custT="1"/>
      <dgm:spPr/>
      <dgm:t>
        <a:bodyPr/>
        <a:lstStyle/>
        <a:p>
          <a:r>
            <a:rPr lang="en-NZ" sz="2000" b="1" dirty="0"/>
            <a:t>Average Specs:</a:t>
          </a:r>
          <a:r>
            <a:rPr lang="en-NZ" sz="2000" dirty="0"/>
            <a:t> Most properties feature ~5,150 sq. ft. with 3 bedrooms.</a:t>
          </a:r>
          <a:endParaRPr lang="en-US" sz="2000" dirty="0"/>
        </a:p>
      </dgm:t>
    </dgm:pt>
    <dgm:pt modelId="{B19613E0-EE6E-4075-B61B-1B52205109D7}" type="parTrans" cxnId="{D25C17E4-3D4F-49C2-8BCB-820EF1869651}">
      <dgm:prSet/>
      <dgm:spPr/>
      <dgm:t>
        <a:bodyPr/>
        <a:lstStyle/>
        <a:p>
          <a:endParaRPr lang="en-US"/>
        </a:p>
      </dgm:t>
    </dgm:pt>
    <dgm:pt modelId="{11A6A316-876F-48DC-AF1A-83879A471AAD}" type="sibTrans" cxnId="{D25C17E4-3D4F-49C2-8BCB-820EF1869651}">
      <dgm:prSet/>
      <dgm:spPr/>
      <dgm:t>
        <a:bodyPr/>
        <a:lstStyle/>
        <a:p>
          <a:endParaRPr lang="en-US"/>
        </a:p>
      </dgm:t>
    </dgm:pt>
    <dgm:pt modelId="{EB2922D9-B702-3D40-BED2-841EC643831A}" type="pres">
      <dgm:prSet presAssocID="{54F30EA3-EFA8-466B-8BA4-A0C5E8C9269F}" presName="linear" presStyleCnt="0">
        <dgm:presLayoutVars>
          <dgm:animLvl val="lvl"/>
          <dgm:resizeHandles val="exact"/>
        </dgm:presLayoutVars>
      </dgm:prSet>
      <dgm:spPr/>
    </dgm:pt>
    <dgm:pt modelId="{AECAFD96-7D9A-E341-8A71-5742C3513C3B}" type="pres">
      <dgm:prSet presAssocID="{1348BB36-4385-48AB-8FAD-D6C736281DF9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BD76F33-7108-9D4E-B277-F74674DFDE4C}" type="pres">
      <dgm:prSet presAssocID="{101F7FE6-CBF6-488E-9E29-A4EB40BCA0DB}" presName="spacer" presStyleCnt="0"/>
      <dgm:spPr/>
    </dgm:pt>
    <dgm:pt modelId="{9D5239A0-3885-044C-B18E-2B2982B630FE}" type="pres">
      <dgm:prSet presAssocID="{A3B1D413-2F1C-4BC4-9E2C-4B46DCACAFB4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F921FB3D-6987-6D43-BAB4-C330C2D26839}" type="presOf" srcId="{54F30EA3-EFA8-466B-8BA4-A0C5E8C9269F}" destId="{EB2922D9-B702-3D40-BED2-841EC643831A}" srcOrd="0" destOrd="0" presId="urn:microsoft.com/office/officeart/2005/8/layout/vList2"/>
    <dgm:cxn modelId="{93FE7463-F429-4C46-BC89-5FC739C1CD3D}" type="presOf" srcId="{1348BB36-4385-48AB-8FAD-D6C736281DF9}" destId="{AECAFD96-7D9A-E341-8A71-5742C3513C3B}" srcOrd="0" destOrd="0" presId="urn:microsoft.com/office/officeart/2005/8/layout/vList2"/>
    <dgm:cxn modelId="{D3149486-2876-D645-922D-69C05A3D952A}" type="presOf" srcId="{A3B1D413-2F1C-4BC4-9E2C-4B46DCACAFB4}" destId="{9D5239A0-3885-044C-B18E-2B2982B630FE}" srcOrd="0" destOrd="0" presId="urn:microsoft.com/office/officeart/2005/8/layout/vList2"/>
    <dgm:cxn modelId="{04248196-D49D-44AC-9716-E1B3119AF35A}" srcId="{54F30EA3-EFA8-466B-8BA4-A0C5E8C9269F}" destId="{1348BB36-4385-48AB-8FAD-D6C736281DF9}" srcOrd="0" destOrd="0" parTransId="{1AC3D36D-7935-47BD-A8CA-F67C8629DC45}" sibTransId="{101F7FE6-CBF6-488E-9E29-A4EB40BCA0DB}"/>
    <dgm:cxn modelId="{D25C17E4-3D4F-49C2-8BCB-820EF1869651}" srcId="{54F30EA3-EFA8-466B-8BA4-A0C5E8C9269F}" destId="{A3B1D413-2F1C-4BC4-9E2C-4B46DCACAFB4}" srcOrd="1" destOrd="0" parTransId="{B19613E0-EE6E-4075-B61B-1B52205109D7}" sibTransId="{11A6A316-876F-48DC-AF1A-83879A471AAD}"/>
    <dgm:cxn modelId="{EB4BC5A5-3792-6349-B9CD-387549146EBF}" type="presParOf" srcId="{EB2922D9-B702-3D40-BED2-841EC643831A}" destId="{AECAFD96-7D9A-E341-8A71-5742C3513C3B}" srcOrd="0" destOrd="0" presId="urn:microsoft.com/office/officeart/2005/8/layout/vList2"/>
    <dgm:cxn modelId="{17CA0913-F679-294A-9997-23017D9AE1B9}" type="presParOf" srcId="{EB2922D9-B702-3D40-BED2-841EC643831A}" destId="{4BD76F33-7108-9D4E-B277-F74674DFDE4C}" srcOrd="1" destOrd="0" presId="urn:microsoft.com/office/officeart/2005/8/layout/vList2"/>
    <dgm:cxn modelId="{B6CE9BF7-3EC4-2C4D-8EC8-D4D301B8C83E}" type="presParOf" srcId="{EB2922D9-B702-3D40-BED2-841EC643831A}" destId="{9D5239A0-3885-044C-B18E-2B2982B630FE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4F30EA3-EFA8-466B-8BA4-A0C5E8C9269F}" type="doc">
      <dgm:prSet loTypeId="urn:microsoft.com/office/officeart/2005/8/layout/vList2" loCatId="list" qsTypeId="urn:microsoft.com/office/officeart/2005/8/quickstyle/simple1" qsCatId="simple" csTypeId="urn:microsoft.com/office/officeart/2005/8/colors/accent4_1" csCatId="accent4" phldr="1"/>
      <dgm:spPr/>
      <dgm:t>
        <a:bodyPr/>
        <a:lstStyle/>
        <a:p>
          <a:endParaRPr lang="en-US"/>
        </a:p>
      </dgm:t>
    </dgm:pt>
    <dgm:pt modelId="{1348BB36-4385-48AB-8FAD-D6C736281DF9}">
      <dgm:prSet custT="1"/>
      <dgm:spPr/>
      <dgm:t>
        <a:bodyPr/>
        <a:lstStyle/>
        <a:p>
          <a:r>
            <a:rPr lang="en-NZ" sz="1800" b="1" dirty="0"/>
            <a:t>AC Impact:</a:t>
          </a:r>
          <a:r>
            <a:rPr lang="en-NZ" sz="1800" dirty="0"/>
            <a:t> Homes with AC average </a:t>
          </a:r>
          <a:r>
            <a:rPr lang="en-NZ" sz="1800" b="1" dirty="0"/>
            <a:t>$6.01M</a:t>
          </a:r>
          <a:r>
            <a:rPr lang="en-NZ" sz="1800" dirty="0"/>
            <a:t> vs. </a:t>
          </a:r>
          <a:r>
            <a:rPr lang="en-NZ" sz="1800" b="1" dirty="0"/>
            <a:t>$4.19M</a:t>
          </a:r>
          <a:r>
            <a:rPr lang="en-NZ" sz="1800" dirty="0"/>
            <a:t> without it.</a:t>
          </a:r>
          <a:endParaRPr lang="en-US" sz="1800" dirty="0"/>
        </a:p>
      </dgm:t>
    </dgm:pt>
    <dgm:pt modelId="{1AC3D36D-7935-47BD-A8CA-F67C8629DC45}" type="parTrans" cxnId="{04248196-D49D-44AC-9716-E1B3119AF35A}">
      <dgm:prSet/>
      <dgm:spPr/>
      <dgm:t>
        <a:bodyPr/>
        <a:lstStyle/>
        <a:p>
          <a:endParaRPr lang="en-US"/>
        </a:p>
      </dgm:t>
    </dgm:pt>
    <dgm:pt modelId="{101F7FE6-CBF6-488E-9E29-A4EB40BCA0DB}" type="sibTrans" cxnId="{04248196-D49D-44AC-9716-E1B3119AF35A}">
      <dgm:prSet/>
      <dgm:spPr/>
      <dgm:t>
        <a:bodyPr/>
        <a:lstStyle/>
        <a:p>
          <a:endParaRPr lang="en-US"/>
        </a:p>
      </dgm:t>
    </dgm:pt>
    <dgm:pt modelId="{A3B1D413-2F1C-4BC4-9E2C-4B46DCACAFB4}">
      <dgm:prSet custT="1"/>
      <dgm:spPr/>
      <dgm:t>
        <a:bodyPr/>
        <a:lstStyle/>
        <a:p>
          <a:r>
            <a:rPr lang="en-NZ" sz="1600" b="1" dirty="0"/>
            <a:t>Furnishing Status:</a:t>
          </a:r>
          <a:r>
            <a:rPr lang="en-NZ" sz="1600" dirty="0"/>
            <a:t> Fully furnished homes command a </a:t>
          </a:r>
          <a:r>
            <a:rPr lang="en-NZ" sz="1600" b="1" dirty="0"/>
            <a:t>37% premium</a:t>
          </a:r>
          <a:r>
            <a:rPr lang="en-NZ" sz="1600" dirty="0"/>
            <a:t> over unfurnished ones.</a:t>
          </a:r>
          <a:endParaRPr lang="en-US" sz="1600" dirty="0"/>
        </a:p>
      </dgm:t>
    </dgm:pt>
    <dgm:pt modelId="{B19613E0-EE6E-4075-B61B-1B52205109D7}" type="parTrans" cxnId="{D25C17E4-3D4F-49C2-8BCB-820EF1869651}">
      <dgm:prSet/>
      <dgm:spPr/>
      <dgm:t>
        <a:bodyPr/>
        <a:lstStyle/>
        <a:p>
          <a:endParaRPr lang="en-US"/>
        </a:p>
      </dgm:t>
    </dgm:pt>
    <dgm:pt modelId="{11A6A316-876F-48DC-AF1A-83879A471AAD}" type="sibTrans" cxnId="{D25C17E4-3D4F-49C2-8BCB-820EF1869651}">
      <dgm:prSet/>
      <dgm:spPr/>
      <dgm:t>
        <a:bodyPr/>
        <a:lstStyle/>
        <a:p>
          <a:endParaRPr lang="en-US"/>
        </a:p>
      </dgm:t>
    </dgm:pt>
    <dgm:pt modelId="{EB2922D9-B702-3D40-BED2-841EC643831A}" type="pres">
      <dgm:prSet presAssocID="{54F30EA3-EFA8-466B-8BA4-A0C5E8C9269F}" presName="linear" presStyleCnt="0">
        <dgm:presLayoutVars>
          <dgm:animLvl val="lvl"/>
          <dgm:resizeHandles val="exact"/>
        </dgm:presLayoutVars>
      </dgm:prSet>
      <dgm:spPr/>
    </dgm:pt>
    <dgm:pt modelId="{AECAFD96-7D9A-E341-8A71-5742C3513C3B}" type="pres">
      <dgm:prSet presAssocID="{1348BB36-4385-48AB-8FAD-D6C736281DF9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BD76F33-7108-9D4E-B277-F74674DFDE4C}" type="pres">
      <dgm:prSet presAssocID="{101F7FE6-CBF6-488E-9E29-A4EB40BCA0DB}" presName="spacer" presStyleCnt="0"/>
      <dgm:spPr/>
    </dgm:pt>
    <dgm:pt modelId="{9D5239A0-3885-044C-B18E-2B2982B630FE}" type="pres">
      <dgm:prSet presAssocID="{A3B1D413-2F1C-4BC4-9E2C-4B46DCACAFB4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F921FB3D-6987-6D43-BAB4-C330C2D26839}" type="presOf" srcId="{54F30EA3-EFA8-466B-8BA4-A0C5E8C9269F}" destId="{EB2922D9-B702-3D40-BED2-841EC643831A}" srcOrd="0" destOrd="0" presId="urn:microsoft.com/office/officeart/2005/8/layout/vList2"/>
    <dgm:cxn modelId="{93FE7463-F429-4C46-BC89-5FC739C1CD3D}" type="presOf" srcId="{1348BB36-4385-48AB-8FAD-D6C736281DF9}" destId="{AECAFD96-7D9A-E341-8A71-5742C3513C3B}" srcOrd="0" destOrd="0" presId="urn:microsoft.com/office/officeart/2005/8/layout/vList2"/>
    <dgm:cxn modelId="{D3149486-2876-D645-922D-69C05A3D952A}" type="presOf" srcId="{A3B1D413-2F1C-4BC4-9E2C-4B46DCACAFB4}" destId="{9D5239A0-3885-044C-B18E-2B2982B630FE}" srcOrd="0" destOrd="0" presId="urn:microsoft.com/office/officeart/2005/8/layout/vList2"/>
    <dgm:cxn modelId="{04248196-D49D-44AC-9716-E1B3119AF35A}" srcId="{54F30EA3-EFA8-466B-8BA4-A0C5E8C9269F}" destId="{1348BB36-4385-48AB-8FAD-D6C736281DF9}" srcOrd="0" destOrd="0" parTransId="{1AC3D36D-7935-47BD-A8CA-F67C8629DC45}" sibTransId="{101F7FE6-CBF6-488E-9E29-A4EB40BCA0DB}"/>
    <dgm:cxn modelId="{D25C17E4-3D4F-49C2-8BCB-820EF1869651}" srcId="{54F30EA3-EFA8-466B-8BA4-A0C5E8C9269F}" destId="{A3B1D413-2F1C-4BC4-9E2C-4B46DCACAFB4}" srcOrd="1" destOrd="0" parTransId="{B19613E0-EE6E-4075-B61B-1B52205109D7}" sibTransId="{11A6A316-876F-48DC-AF1A-83879A471AAD}"/>
    <dgm:cxn modelId="{EB4BC5A5-3792-6349-B9CD-387549146EBF}" type="presParOf" srcId="{EB2922D9-B702-3D40-BED2-841EC643831A}" destId="{AECAFD96-7D9A-E341-8A71-5742C3513C3B}" srcOrd="0" destOrd="0" presId="urn:microsoft.com/office/officeart/2005/8/layout/vList2"/>
    <dgm:cxn modelId="{17CA0913-F679-294A-9997-23017D9AE1B9}" type="presParOf" srcId="{EB2922D9-B702-3D40-BED2-841EC643831A}" destId="{4BD76F33-7108-9D4E-B277-F74674DFDE4C}" srcOrd="1" destOrd="0" presId="urn:microsoft.com/office/officeart/2005/8/layout/vList2"/>
    <dgm:cxn modelId="{B6CE9BF7-3EC4-2C4D-8EC8-D4D301B8C83E}" type="presParOf" srcId="{EB2922D9-B702-3D40-BED2-841EC643831A}" destId="{9D5239A0-3885-044C-B18E-2B2982B630FE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F30EA3-EFA8-466B-8BA4-A0C5E8C9269F}" type="doc">
      <dgm:prSet loTypeId="urn:microsoft.com/office/officeart/2005/8/layout/vList2" loCatId="list" qsTypeId="urn:microsoft.com/office/officeart/2005/8/quickstyle/simple1" qsCatId="simple" csTypeId="urn:microsoft.com/office/officeart/2005/8/colors/accent4_1" csCatId="accent4" phldr="1"/>
      <dgm:spPr/>
      <dgm:t>
        <a:bodyPr/>
        <a:lstStyle/>
        <a:p>
          <a:endParaRPr lang="en-US"/>
        </a:p>
      </dgm:t>
    </dgm:pt>
    <dgm:pt modelId="{1348BB36-4385-48AB-8FAD-D6C736281DF9}">
      <dgm:prSet custT="1"/>
      <dgm:spPr/>
      <dgm:t>
        <a:bodyPr/>
        <a:lstStyle/>
        <a:p>
          <a:r>
            <a:rPr lang="en-NZ" sz="1800" b="1" dirty="0"/>
            <a:t>Location Premium:</a:t>
          </a:r>
          <a:r>
            <a:rPr lang="en-NZ" sz="1800" dirty="0"/>
            <a:t> Homes in a "Preferred Area" cost </a:t>
          </a:r>
          <a:r>
            <a:rPr lang="en-NZ" sz="1800" b="1" dirty="0"/>
            <a:t>$1.4M more</a:t>
          </a:r>
          <a:r>
            <a:rPr lang="en-NZ" sz="1800" dirty="0"/>
            <a:t> on average.</a:t>
          </a:r>
          <a:endParaRPr lang="en-US" sz="1800" dirty="0"/>
        </a:p>
      </dgm:t>
    </dgm:pt>
    <dgm:pt modelId="{1AC3D36D-7935-47BD-A8CA-F67C8629DC45}" type="parTrans" cxnId="{04248196-D49D-44AC-9716-E1B3119AF35A}">
      <dgm:prSet/>
      <dgm:spPr/>
      <dgm:t>
        <a:bodyPr/>
        <a:lstStyle/>
        <a:p>
          <a:endParaRPr lang="en-US"/>
        </a:p>
      </dgm:t>
    </dgm:pt>
    <dgm:pt modelId="{101F7FE6-CBF6-488E-9E29-A4EB40BCA0DB}" type="sibTrans" cxnId="{04248196-D49D-44AC-9716-E1B3119AF35A}">
      <dgm:prSet/>
      <dgm:spPr/>
      <dgm:t>
        <a:bodyPr/>
        <a:lstStyle/>
        <a:p>
          <a:endParaRPr lang="en-US"/>
        </a:p>
      </dgm:t>
    </dgm:pt>
    <dgm:pt modelId="{A3B1D413-2F1C-4BC4-9E2C-4B46DCACAFB4}">
      <dgm:prSet custT="1"/>
      <dgm:spPr/>
      <dgm:t>
        <a:bodyPr/>
        <a:lstStyle/>
        <a:p>
          <a:r>
            <a:rPr lang="en-NZ" sz="1800" b="1" dirty="0"/>
            <a:t>Accessibility:</a:t>
          </a:r>
          <a:r>
            <a:rPr lang="en-NZ" sz="1800" dirty="0"/>
            <a:t> Proximity to main roads and parking capacity significantly increases a property's marketability.</a:t>
          </a:r>
          <a:endParaRPr lang="en-US" sz="1800" dirty="0"/>
        </a:p>
      </dgm:t>
    </dgm:pt>
    <dgm:pt modelId="{B19613E0-EE6E-4075-B61B-1B52205109D7}" type="parTrans" cxnId="{D25C17E4-3D4F-49C2-8BCB-820EF1869651}">
      <dgm:prSet/>
      <dgm:spPr/>
      <dgm:t>
        <a:bodyPr/>
        <a:lstStyle/>
        <a:p>
          <a:endParaRPr lang="en-US"/>
        </a:p>
      </dgm:t>
    </dgm:pt>
    <dgm:pt modelId="{11A6A316-876F-48DC-AF1A-83879A471AAD}" type="sibTrans" cxnId="{D25C17E4-3D4F-49C2-8BCB-820EF1869651}">
      <dgm:prSet/>
      <dgm:spPr/>
      <dgm:t>
        <a:bodyPr/>
        <a:lstStyle/>
        <a:p>
          <a:endParaRPr lang="en-US"/>
        </a:p>
      </dgm:t>
    </dgm:pt>
    <dgm:pt modelId="{EB2922D9-B702-3D40-BED2-841EC643831A}" type="pres">
      <dgm:prSet presAssocID="{54F30EA3-EFA8-466B-8BA4-A0C5E8C9269F}" presName="linear" presStyleCnt="0">
        <dgm:presLayoutVars>
          <dgm:animLvl val="lvl"/>
          <dgm:resizeHandles val="exact"/>
        </dgm:presLayoutVars>
      </dgm:prSet>
      <dgm:spPr/>
    </dgm:pt>
    <dgm:pt modelId="{AECAFD96-7D9A-E341-8A71-5742C3513C3B}" type="pres">
      <dgm:prSet presAssocID="{1348BB36-4385-48AB-8FAD-D6C736281DF9}" presName="parentText" presStyleLbl="node1" presStyleIdx="0" presStyleCnt="2" custLinFactY="-11549" custLinFactNeighborX="-8911" custLinFactNeighborY="-100000">
        <dgm:presLayoutVars>
          <dgm:chMax val="0"/>
          <dgm:bulletEnabled val="1"/>
        </dgm:presLayoutVars>
      </dgm:prSet>
      <dgm:spPr/>
    </dgm:pt>
    <dgm:pt modelId="{4BD76F33-7108-9D4E-B277-F74674DFDE4C}" type="pres">
      <dgm:prSet presAssocID="{101F7FE6-CBF6-488E-9E29-A4EB40BCA0DB}" presName="spacer" presStyleCnt="0"/>
      <dgm:spPr/>
    </dgm:pt>
    <dgm:pt modelId="{9D5239A0-3885-044C-B18E-2B2982B630FE}" type="pres">
      <dgm:prSet presAssocID="{A3B1D413-2F1C-4BC4-9E2C-4B46DCACAFB4}" presName="parentText" presStyleLbl="node1" presStyleIdx="1" presStyleCnt="2" custLinFactNeighborX="-645" custLinFactNeighborY="33898">
        <dgm:presLayoutVars>
          <dgm:chMax val="0"/>
          <dgm:bulletEnabled val="1"/>
        </dgm:presLayoutVars>
      </dgm:prSet>
      <dgm:spPr/>
    </dgm:pt>
  </dgm:ptLst>
  <dgm:cxnLst>
    <dgm:cxn modelId="{F921FB3D-6987-6D43-BAB4-C330C2D26839}" type="presOf" srcId="{54F30EA3-EFA8-466B-8BA4-A0C5E8C9269F}" destId="{EB2922D9-B702-3D40-BED2-841EC643831A}" srcOrd="0" destOrd="0" presId="urn:microsoft.com/office/officeart/2005/8/layout/vList2"/>
    <dgm:cxn modelId="{93FE7463-F429-4C46-BC89-5FC739C1CD3D}" type="presOf" srcId="{1348BB36-4385-48AB-8FAD-D6C736281DF9}" destId="{AECAFD96-7D9A-E341-8A71-5742C3513C3B}" srcOrd="0" destOrd="0" presId="urn:microsoft.com/office/officeart/2005/8/layout/vList2"/>
    <dgm:cxn modelId="{D3149486-2876-D645-922D-69C05A3D952A}" type="presOf" srcId="{A3B1D413-2F1C-4BC4-9E2C-4B46DCACAFB4}" destId="{9D5239A0-3885-044C-B18E-2B2982B630FE}" srcOrd="0" destOrd="0" presId="urn:microsoft.com/office/officeart/2005/8/layout/vList2"/>
    <dgm:cxn modelId="{04248196-D49D-44AC-9716-E1B3119AF35A}" srcId="{54F30EA3-EFA8-466B-8BA4-A0C5E8C9269F}" destId="{1348BB36-4385-48AB-8FAD-D6C736281DF9}" srcOrd="0" destOrd="0" parTransId="{1AC3D36D-7935-47BD-A8CA-F67C8629DC45}" sibTransId="{101F7FE6-CBF6-488E-9E29-A4EB40BCA0DB}"/>
    <dgm:cxn modelId="{D25C17E4-3D4F-49C2-8BCB-820EF1869651}" srcId="{54F30EA3-EFA8-466B-8BA4-A0C5E8C9269F}" destId="{A3B1D413-2F1C-4BC4-9E2C-4B46DCACAFB4}" srcOrd="1" destOrd="0" parTransId="{B19613E0-EE6E-4075-B61B-1B52205109D7}" sibTransId="{11A6A316-876F-48DC-AF1A-83879A471AAD}"/>
    <dgm:cxn modelId="{EB4BC5A5-3792-6349-B9CD-387549146EBF}" type="presParOf" srcId="{EB2922D9-B702-3D40-BED2-841EC643831A}" destId="{AECAFD96-7D9A-E341-8A71-5742C3513C3B}" srcOrd="0" destOrd="0" presId="urn:microsoft.com/office/officeart/2005/8/layout/vList2"/>
    <dgm:cxn modelId="{17CA0913-F679-294A-9997-23017D9AE1B9}" type="presParOf" srcId="{EB2922D9-B702-3D40-BED2-841EC643831A}" destId="{4BD76F33-7108-9D4E-B277-F74674DFDE4C}" srcOrd="1" destOrd="0" presId="urn:microsoft.com/office/officeart/2005/8/layout/vList2"/>
    <dgm:cxn modelId="{B6CE9BF7-3EC4-2C4D-8EC8-D4D301B8C83E}" type="presParOf" srcId="{EB2922D9-B702-3D40-BED2-841EC643831A}" destId="{9D5239A0-3885-044C-B18E-2B2982B630FE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CAFD96-7D9A-E341-8A71-5742C3513C3B}">
      <dsp:nvSpPr>
        <dsp:cNvPr id="0" name=""/>
        <dsp:cNvSpPr/>
      </dsp:nvSpPr>
      <dsp:spPr>
        <a:xfrm>
          <a:off x="0" y="12748"/>
          <a:ext cx="6172300" cy="8611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1" kern="1200" dirty="0"/>
            <a:t>Core Correlation: </a:t>
          </a:r>
          <a:r>
            <a:rPr lang="en-NZ" sz="2000" kern="1200" dirty="0"/>
            <a:t>There is a moderate positive correlation (r = 0.54) between area and price.</a:t>
          </a:r>
          <a:endParaRPr lang="en-US" sz="2000" kern="1200" dirty="0"/>
        </a:p>
      </dsp:txBody>
      <dsp:txXfrm>
        <a:off x="42036" y="54784"/>
        <a:ext cx="6088228" cy="777048"/>
      </dsp:txXfrm>
    </dsp:sp>
    <dsp:sp modelId="{9D5239A0-3885-044C-B18E-2B2982B630FE}">
      <dsp:nvSpPr>
        <dsp:cNvPr id="0" name=""/>
        <dsp:cNvSpPr/>
      </dsp:nvSpPr>
      <dsp:spPr>
        <a:xfrm>
          <a:off x="0" y="1006349"/>
          <a:ext cx="6172300" cy="8611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Z" sz="2000" b="1" kern="1200" dirty="0"/>
            <a:t>Average Specs:</a:t>
          </a:r>
          <a:r>
            <a:rPr lang="en-NZ" sz="2000" kern="1200" dirty="0"/>
            <a:t> Most properties feature ~5,150 sq. ft. with 3 bedrooms.</a:t>
          </a:r>
          <a:endParaRPr lang="en-US" sz="2000" kern="1200" dirty="0"/>
        </a:p>
      </dsp:txBody>
      <dsp:txXfrm>
        <a:off x="42036" y="1048385"/>
        <a:ext cx="6088228" cy="77704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CAFD96-7D9A-E341-8A71-5742C3513C3B}">
      <dsp:nvSpPr>
        <dsp:cNvPr id="0" name=""/>
        <dsp:cNvSpPr/>
      </dsp:nvSpPr>
      <dsp:spPr>
        <a:xfrm>
          <a:off x="0" y="2785"/>
          <a:ext cx="6080601" cy="7675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Z" sz="1800" b="1" kern="1200" dirty="0"/>
            <a:t>AC Impact:</a:t>
          </a:r>
          <a:r>
            <a:rPr lang="en-NZ" sz="1800" kern="1200" dirty="0"/>
            <a:t> Homes with AC average </a:t>
          </a:r>
          <a:r>
            <a:rPr lang="en-NZ" sz="1800" b="1" kern="1200" dirty="0"/>
            <a:t>$6.01M</a:t>
          </a:r>
          <a:r>
            <a:rPr lang="en-NZ" sz="1800" kern="1200" dirty="0"/>
            <a:t> vs. </a:t>
          </a:r>
          <a:r>
            <a:rPr lang="en-NZ" sz="1800" b="1" kern="1200" dirty="0"/>
            <a:t>$4.19M</a:t>
          </a:r>
          <a:r>
            <a:rPr lang="en-NZ" sz="1800" kern="1200" dirty="0"/>
            <a:t> without it.</a:t>
          </a:r>
          <a:endParaRPr lang="en-US" sz="1800" kern="1200" dirty="0"/>
        </a:p>
      </dsp:txBody>
      <dsp:txXfrm>
        <a:off x="37467" y="40252"/>
        <a:ext cx="6005667" cy="692586"/>
      </dsp:txXfrm>
    </dsp:sp>
    <dsp:sp modelId="{9D5239A0-3885-044C-B18E-2B2982B630FE}">
      <dsp:nvSpPr>
        <dsp:cNvPr id="0" name=""/>
        <dsp:cNvSpPr/>
      </dsp:nvSpPr>
      <dsp:spPr>
        <a:xfrm>
          <a:off x="0" y="888385"/>
          <a:ext cx="6080601" cy="7675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Z" sz="1600" b="1" kern="1200" dirty="0"/>
            <a:t>Furnishing Status:</a:t>
          </a:r>
          <a:r>
            <a:rPr lang="en-NZ" sz="1600" kern="1200" dirty="0"/>
            <a:t> Fully furnished homes command a </a:t>
          </a:r>
          <a:r>
            <a:rPr lang="en-NZ" sz="1600" b="1" kern="1200" dirty="0"/>
            <a:t>37% premium</a:t>
          </a:r>
          <a:r>
            <a:rPr lang="en-NZ" sz="1600" kern="1200" dirty="0"/>
            <a:t> over unfurnished ones.</a:t>
          </a:r>
          <a:endParaRPr lang="en-US" sz="1600" kern="1200" dirty="0"/>
        </a:p>
      </dsp:txBody>
      <dsp:txXfrm>
        <a:off x="37467" y="925852"/>
        <a:ext cx="6005667" cy="69258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CAFD96-7D9A-E341-8A71-5742C3513C3B}">
      <dsp:nvSpPr>
        <dsp:cNvPr id="0" name=""/>
        <dsp:cNvSpPr/>
      </dsp:nvSpPr>
      <dsp:spPr>
        <a:xfrm>
          <a:off x="0" y="0"/>
          <a:ext cx="5732971" cy="69264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Z" sz="1800" b="1" kern="1200" dirty="0"/>
            <a:t>Location Premium:</a:t>
          </a:r>
          <a:r>
            <a:rPr lang="en-NZ" sz="1800" kern="1200" dirty="0"/>
            <a:t> Homes in a "Preferred Area" cost </a:t>
          </a:r>
          <a:r>
            <a:rPr lang="en-NZ" sz="1800" b="1" kern="1200" dirty="0"/>
            <a:t>$1.4M more</a:t>
          </a:r>
          <a:r>
            <a:rPr lang="en-NZ" sz="1800" kern="1200" dirty="0"/>
            <a:t> on average.</a:t>
          </a:r>
          <a:endParaRPr lang="en-US" sz="1800" kern="1200" dirty="0"/>
        </a:p>
      </dsp:txBody>
      <dsp:txXfrm>
        <a:off x="33812" y="33812"/>
        <a:ext cx="5665347" cy="625016"/>
      </dsp:txXfrm>
    </dsp:sp>
    <dsp:sp modelId="{9D5239A0-3885-044C-B18E-2B2982B630FE}">
      <dsp:nvSpPr>
        <dsp:cNvPr id="0" name=""/>
        <dsp:cNvSpPr/>
      </dsp:nvSpPr>
      <dsp:spPr>
        <a:xfrm>
          <a:off x="0" y="802373"/>
          <a:ext cx="5732971" cy="69264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Z" sz="1800" b="1" kern="1200" dirty="0"/>
            <a:t>Accessibility:</a:t>
          </a:r>
          <a:r>
            <a:rPr lang="en-NZ" sz="1800" kern="1200" dirty="0"/>
            <a:t> Proximity to main roads and parking capacity significantly increases a property's marketability.</a:t>
          </a:r>
          <a:endParaRPr lang="en-US" sz="1800" kern="1200" dirty="0"/>
        </a:p>
      </dsp:txBody>
      <dsp:txXfrm>
        <a:off x="33812" y="836185"/>
        <a:ext cx="5665347" cy="62501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D3B3C7E-BC2D-4436-8B03-AC421FA66787}"/>
              </a:ext>
            </a:extLst>
          </p:cNvPr>
          <p:cNvSpPr/>
          <p:nvPr/>
        </p:nvSpPr>
        <p:spPr>
          <a:xfrm>
            <a:off x="160920" y="157606"/>
            <a:ext cx="11870161" cy="654278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66887E-4265-46F7-9DE0-605FFFC9076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035130" y="1066800"/>
            <a:ext cx="8112369" cy="2073119"/>
          </a:xfrm>
        </p:spPr>
        <p:txBody>
          <a:bodyPr anchor="b">
            <a:normAutofit/>
          </a:bodyPr>
          <a:lstStyle>
            <a:lvl1pPr algn="ctr">
              <a:lnSpc>
                <a:spcPct val="110000"/>
              </a:lnSpc>
              <a:defRPr sz="2800" cap="all" spc="39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DB1A74-54F5-45CA-8922-87FFD57515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75804" y="4876802"/>
            <a:ext cx="7821637" cy="102869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6BE6EF-9D0F-4ABF-B92C-E967FE3F1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4AB150-954C-4F02-89AC-DA7163D75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79965" y="6245352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E16270-CBD7-4ACC-BFC5-9CADE7226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9B5D0C1-066E-4C02-A6B8-59FAE4A19724}"/>
              </a:ext>
            </a:extLst>
          </p:cNvPr>
          <p:cNvGrpSpPr/>
          <p:nvPr/>
        </p:nvGrpSpPr>
        <p:grpSpPr>
          <a:xfrm>
            <a:off x="5662258" y="4240546"/>
            <a:ext cx="867485" cy="115439"/>
            <a:chOff x="8910933" y="1861308"/>
            <a:chExt cx="867485" cy="11543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4386904-AFDC-449E-8D1B-906B305EBDA7}"/>
                </a:ext>
              </a:extLst>
            </p:cNvPr>
            <p:cNvSpPr/>
            <p:nvPr/>
          </p:nvSpPr>
          <p:spPr>
            <a:xfrm rot="18964825" flipH="1">
              <a:off x="9286956" y="1861308"/>
              <a:ext cx="115439" cy="115439"/>
            </a:xfrm>
            <a:prstGeom prst="rect">
              <a:avLst/>
            </a:prstGeom>
            <a:noFill/>
            <a:ln w="15875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70778F2-11E8-428C-8324-479CA9D6FE92}"/>
                </a:ext>
              </a:extLst>
            </p:cNvPr>
            <p:cNvCxnSpPr/>
            <p:nvPr/>
          </p:nvCxnSpPr>
          <p:spPr>
            <a:xfrm>
              <a:off x="9426289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A0BE89E-CB2D-48BA-A8D2-533FAAAA725F}"/>
                </a:ext>
              </a:extLst>
            </p:cNvPr>
            <p:cNvCxnSpPr/>
            <p:nvPr/>
          </p:nvCxnSpPr>
          <p:spPr>
            <a:xfrm>
              <a:off x="8910933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41517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2DC87-4B97-4A7C-BC4C-6E7724561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59FD9-57FD-4ABA-9FCD-795405253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7BD40E-B0AA-47B8-900F-488A8AEC1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5E623C-1E35-4485-A5B4-A71969BE7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C6BB9-EF4F-465E-985B-34521F68C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929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7F5577-D71B-4279-B07A-62F703E5D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8367D-C35C-4023-BEBE-F834D033B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FCF8A-B8C6-496A-98A5-BBB52DB70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5">
            <a:extLst>
              <a:ext uri="{FF2B5EF4-FFF2-40B4-BE49-F238E27FC236}">
                <a16:creationId xmlns:a16="http://schemas.microsoft.com/office/drawing/2014/main" id="{CDE45C10-227D-42DF-A888-EEFD3784FA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3900" y="750338"/>
            <a:ext cx="4580642" cy="5494694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3058886 w 6096000"/>
              <a:gd name="connsiteY3" fmla="*/ 6858000 h 6858000"/>
              <a:gd name="connsiteX4" fmla="*/ 0 w 6096000"/>
              <a:gd name="connsiteY4" fmla="*/ 6858000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3037115 w 6096000"/>
              <a:gd name="connsiteY3" fmla="*/ 5889172 h 6858000"/>
              <a:gd name="connsiteX4" fmla="*/ 0 w 6096000"/>
              <a:gd name="connsiteY4" fmla="*/ 6858000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6096000" y="6858000"/>
                </a:lnTo>
                <a:lnTo>
                  <a:pt x="3037115" y="5889172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alpha val="8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A214944-8898-48BC-AE6F-065DA7BBB8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580478" y="4714704"/>
            <a:ext cx="867485" cy="115439"/>
            <a:chOff x="8910933" y="1861308"/>
            <a:chExt cx="867485" cy="11543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94B3AAB-30C4-441D-B481-D253F8325953}"/>
                </a:ext>
              </a:extLst>
            </p:cNvPr>
            <p:cNvSpPr/>
            <p:nvPr/>
          </p:nvSpPr>
          <p:spPr>
            <a:xfrm rot="18964825" flipH="1">
              <a:off x="9286956" y="1861308"/>
              <a:ext cx="115439" cy="115439"/>
            </a:xfrm>
            <a:prstGeom prst="rect">
              <a:avLst/>
            </a:prstGeom>
            <a:noFill/>
            <a:ln w="15875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DCB6176-5585-40BC-BC9C-CA625F989F1B}"/>
                </a:ext>
              </a:extLst>
            </p:cNvPr>
            <p:cNvCxnSpPr/>
            <p:nvPr/>
          </p:nvCxnSpPr>
          <p:spPr>
            <a:xfrm>
              <a:off x="9426289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7C4F1D9-97D8-43DD-A319-C56367F97FCE}"/>
                </a:ext>
              </a:extLst>
            </p:cNvPr>
            <p:cNvCxnSpPr/>
            <p:nvPr/>
          </p:nvCxnSpPr>
          <p:spPr>
            <a:xfrm>
              <a:off x="8910933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25E64ED-B373-4866-B5A2-E805D3168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1291" y="1274475"/>
            <a:ext cx="3761832" cy="2823913"/>
          </a:xfrm>
        </p:spPr>
        <p:txBody>
          <a:bodyPr anchor="b">
            <a:normAutofit/>
          </a:bodyPr>
          <a:lstStyle>
            <a:lvl1pPr algn="ctr">
              <a:defRPr sz="3200" cap="all" spc="6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6D6168-DDAE-41B2-A0D5-42185A2D02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556756" y="2730304"/>
            <a:ext cx="4383030" cy="139739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67259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825EB-71EE-41B3-89D2-47A0C7C35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62F7D-C4AD-4BD4-AAC8-F0223EE4A3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7305" y="2155369"/>
            <a:ext cx="4953000" cy="399832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0FB088-28C6-4667-8DF2-0DE32AE3E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55369"/>
            <a:ext cx="4953000" cy="39983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36095F-AE34-4E94-B722-E3A1205AE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06A8E6-BD94-48EA-8F35-DA0DF910A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478AEF-56B8-49F5-81E8-663B1FFA0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1557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F873F-001F-4254-97F3-05329E6A7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555171"/>
            <a:ext cx="10134600" cy="11355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37B575-060F-4296-A28A-93DA109F9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7306" y="1801620"/>
            <a:ext cx="4849036" cy="814387"/>
          </a:xfrm>
        </p:spPr>
        <p:txBody>
          <a:bodyPr anchor="b">
            <a:normAutofit/>
          </a:bodyPr>
          <a:lstStyle>
            <a:lvl1pPr marL="0" indent="0">
              <a:buNone/>
              <a:defRPr sz="18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581A51-F4D1-4A02-9918-C416F820B6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7306" y="2619103"/>
            <a:ext cx="4849036" cy="35149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2916D0-3DFE-455D-9888-3FDEFD3DE0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50108" y="1801620"/>
            <a:ext cx="4904585" cy="814387"/>
          </a:xfrm>
        </p:spPr>
        <p:txBody>
          <a:bodyPr anchor="b">
            <a:normAutofit/>
          </a:bodyPr>
          <a:lstStyle>
            <a:lvl1pPr marL="0" indent="0">
              <a:buNone/>
              <a:defRPr sz="18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93D763-0643-4A48-8007-93391C59F6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50108" y="2619103"/>
            <a:ext cx="4904585" cy="35149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A2D07B-3A5D-41C2-83B8-BD1AD6522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2C1367-FE5A-4CDD-B85B-724FFFE5B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2F244-23EB-4E1A-B74F-77F23F879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2055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76C0A-BEF4-4DE4-A9D2-C60298FC7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67C0AC-3C98-4D68-AE72-CFFA1638C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A7722A-E2E4-45D2-8A20-4853ED683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6B9201-B20B-4412-B745-F2F6A9148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9117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C4889A-9ABE-4409-BAD8-F84C36C1F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DA5A70-FE21-4CB6-A67B-1DC798E9E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84AD11-7FD2-432C-A6AB-395BE9275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4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397CF-9CDD-4E78-8F35-A2FFE7867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57200"/>
            <a:ext cx="370522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194BFE-7A85-4123-B0F7-4DB1C141CE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6800"/>
            <a:ext cx="6172200" cy="483869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EFD6D-1929-4A73-A860-22A36FF5C1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6800" y="2057400"/>
            <a:ext cx="37052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99A5-94A1-4452-AFF0-918BDA8B1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9589D8-DD83-406C-A77A-176D23993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46024-82ED-40EF-8846-F6CC44BC5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349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D12FA-83A4-42AF-98D7-312C4C5A7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57200"/>
            <a:ext cx="370522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CF1DC8-2932-4C6E-BFBB-8BA1C95984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5942012" cy="48387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6E0000-EF01-46A5-8A71-25FB7EA3F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6800" y="2057400"/>
            <a:ext cx="37052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1AD40B-9246-4532-9F73-5BA9061C3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E6B9A0-5B1C-4F7B-828A-EF74E5147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2E99FB-C932-4165-A612-8B302D8F7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48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B1126-542A-43AD-8078-EE3565165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A5F98B-5F32-4561-BFBC-9F6E5DA0A3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28700" y="2161903"/>
            <a:ext cx="10134600" cy="374359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73D0DD-B04E-4E48-8EE1-51E46131A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1352D-F9C0-4442-9601-A09A7655E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C0801-9C45-40AE-AB33-5742CDA4D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6749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946561-59BF-4566-AD2C-9B05C4771D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96250" y="723899"/>
            <a:ext cx="2271849" cy="54102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DF7870-6CBD-47E2-854C-68141BAA10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23900" y="723899"/>
            <a:ext cx="8302534" cy="54102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2FAF3-C106-49CB-A845-1FC7F7313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4D5CCC-00E8-48FA-91A6-921E7B644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E1751-E7AA-406D-A977-1ACEF1FBD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9558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CE7638-D991-46E7-BF2C-67D1AC829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723900"/>
            <a:ext cx="10134600" cy="128848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7C6B9C-4923-4DAB-9748-D5CD289EB9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8700" y="2161903"/>
            <a:ext cx="10134600" cy="39693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78CF6-4B33-40E4-B881-5F4C568378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94765" y="6245032"/>
            <a:ext cx="52449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2"/>
                </a:solidFill>
              </a:defRPr>
            </a:lvl1pPr>
          </a:lstStyle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E857E-F564-4539-9984-10435B6140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54841" y="6245032"/>
            <a:ext cx="26593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/>
                </a:solidFill>
              </a:defRPr>
            </a:lvl1pPr>
          </a:lstStyle>
          <a:p>
            <a:fld id="{C485584D-7D79-4248-9986-4CA35242F944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1EABEF-B998-4B11-A878-8F492F8E39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79964" y="6245033"/>
            <a:ext cx="4112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EB54D17-3792-403D-9127-495845021D2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60920 w 12192000"/>
              <a:gd name="connsiteY0" fmla="*/ 157606 h 6858000"/>
              <a:gd name="connsiteX1" fmla="*/ 160920 w 12192000"/>
              <a:gd name="connsiteY1" fmla="*/ 6700394 h 6858000"/>
              <a:gd name="connsiteX2" fmla="*/ 12031081 w 12192000"/>
              <a:gd name="connsiteY2" fmla="*/ 6700394 h 6858000"/>
              <a:gd name="connsiteX3" fmla="*/ 12031081 w 12192000"/>
              <a:gd name="connsiteY3" fmla="*/ 157606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160920" y="157606"/>
                </a:moveTo>
                <a:lnTo>
                  <a:pt x="160920" y="6700394"/>
                </a:lnTo>
                <a:lnTo>
                  <a:pt x="12031081" y="6700394"/>
                </a:lnTo>
                <a:lnTo>
                  <a:pt x="12031081" y="157606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767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60" r:id="rId6"/>
    <p:sldLayoutId id="2147483755" r:id="rId7"/>
    <p:sldLayoutId id="2147483756" r:id="rId8"/>
    <p:sldLayoutId id="2147483757" r:id="rId9"/>
    <p:sldLayoutId id="2147483759" r:id="rId10"/>
    <p:sldLayoutId id="2147483758" r:id="rId11"/>
  </p:sldLayoutIdLst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sz="3200" kern="1200" cap="none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FontTx/>
        <a:buNone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274320" indent="-228600" algn="l" defTabSz="914400" rtl="0" eaLnBrk="1" latinLnBrk="0" hangingPunct="1">
        <a:lnSpc>
          <a:spcPct val="110000"/>
        </a:lnSpc>
        <a:spcBef>
          <a:spcPts val="500"/>
        </a:spcBef>
        <a:buSzPct val="85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274320" indent="0" algn="l" defTabSz="914400" rtl="0" eaLnBrk="1" latinLnBrk="0" hangingPunct="1">
        <a:lnSpc>
          <a:spcPct val="110000"/>
        </a:lnSpc>
        <a:spcBef>
          <a:spcPts val="500"/>
        </a:spcBef>
        <a:buFontTx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54864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548640" indent="0" algn="l" defTabSz="914400" rtl="0" eaLnBrk="1" latinLnBrk="0" hangingPunct="1">
        <a:lnSpc>
          <a:spcPct val="110000"/>
        </a:lnSpc>
        <a:spcBef>
          <a:spcPts val="500"/>
        </a:spcBef>
        <a:buFontTx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microsoft.com/office/2007/relationships/hdphoto" Target="../media/hdphoto1.wdp"/><Relationship Id="rId7" Type="http://schemas.openxmlformats.org/officeDocument/2006/relationships/diagramColors" Target="../diagrams/colors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microsoft.com/office/2007/relationships/hdphoto" Target="../media/hdphoto1.wdp"/><Relationship Id="rId7" Type="http://schemas.openxmlformats.org/officeDocument/2006/relationships/diagramColors" Target="../diagrams/colors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Relationship Id="rId9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microsoft.com/office/2007/relationships/hdphoto" Target="../media/hdphoto1.wdp"/><Relationship Id="rId7" Type="http://schemas.openxmlformats.org/officeDocument/2006/relationships/diagramColors" Target="../diagrams/colors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1AB7CFDD-E67B-4078-9BD0-D09D4200E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93876B-F307-3488-3FAC-80EB7191ADC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12791"/>
          <a:stretch>
            <a:fillRect/>
          </a:stretch>
        </p:blipFill>
        <p:spPr>
          <a:xfrm>
            <a:off x="-1" y="10"/>
            <a:ext cx="12192000" cy="6857989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4DAEF25D-C97E-48E9-B20C-FEFC2EC6E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73200"/>
            <a:ext cx="12191999" cy="53848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42000">
                <a:srgbClr val="000000">
                  <a:alpha val="41000"/>
                </a:srgbClr>
              </a:gs>
              <a:gs pos="100000">
                <a:srgbClr val="000000">
                  <a:alpha val="67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80836F-980A-067B-FA10-C86205E14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55401" y="1066801"/>
            <a:ext cx="7272408" cy="157761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 cap="none">
                <a:solidFill>
                  <a:schemeClr val="tx1"/>
                </a:solidFill>
                <a:latin typeface="+mn-lt"/>
              </a:rPr>
              <a:t>Decoding the Housing Market</a:t>
            </a:r>
            <a:endParaRPr lang="en-US" sz="4400" cap="none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E7740AF-337C-75B8-FB12-BF40737AE132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184325" y="4592708"/>
            <a:ext cx="9814560" cy="125729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lvl="0" indent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</a:rPr>
              <a:t>A Descriptive Study of 545 Residential Properties</a:t>
            </a:r>
          </a:p>
          <a:p>
            <a:pPr marL="0" marR="0" lvl="0" indent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endParaRPr lang="en-US" altLang="en-US" sz="2800">
              <a:solidFill>
                <a:srgbClr val="FFFFFF"/>
              </a:solidFill>
            </a:endParaRPr>
          </a:p>
          <a:p>
            <a:pPr marL="0" marR="0" lvl="0" indent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  <a:p>
            <a:pPr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b="1">
                <a:solidFill>
                  <a:srgbClr val="FFFFFF"/>
                </a:solidFill>
              </a:rPr>
              <a:t>Presenter:</a:t>
            </a:r>
            <a:r>
              <a:rPr lang="en-US">
                <a:solidFill>
                  <a:srgbClr val="FFFFFF"/>
                </a:solidFill>
              </a:rPr>
              <a:t> Earl Tavera</a:t>
            </a:r>
            <a:endParaRPr kumimoji="0" lang="en-US" altLang="en-US" b="0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  <a:p>
            <a:pPr marL="0" marR="0" lvl="0" indent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1B7537E-7B93-4306-B9DF-4CD583E0AA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62258" y="4237480"/>
            <a:ext cx="867485" cy="115439"/>
            <a:chOff x="8910933" y="1861308"/>
            <a:chExt cx="867485" cy="11543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0AB796C-11E6-468E-9C0D-38940D8E2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8964825" flipH="1">
              <a:off x="9286956" y="1861308"/>
              <a:ext cx="115439" cy="115439"/>
            </a:xfrm>
            <a:prstGeom prst="rect">
              <a:avLst/>
            </a:prstGeom>
            <a:noFill/>
            <a:ln w="158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0FC9ACE4-DF02-4B56-B482-DDAD2EC090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426289" y="1919027"/>
              <a:ext cx="352129" cy="0"/>
            </a:xfrm>
            <a:prstGeom prst="line">
              <a:avLst/>
            </a:prstGeom>
            <a:ln w="15875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99CC309-9401-4122-8206-A304650EFC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910933" y="1919027"/>
              <a:ext cx="352129" cy="0"/>
            </a:xfrm>
            <a:prstGeom prst="line">
              <a:avLst/>
            </a:prstGeom>
            <a:ln w="15875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17338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73">
            <a:extLst>
              <a:ext uri="{FF2B5EF4-FFF2-40B4-BE49-F238E27FC236}">
                <a16:creationId xmlns:a16="http://schemas.microsoft.com/office/drawing/2014/main" id="{9D3B3C7E-BC2D-4436-8B03-AC421FA667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0920" y="157606"/>
            <a:ext cx="11870161" cy="654278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9B5D0C1-066E-4C02-A6B8-59FAE4A19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62258" y="4240546"/>
            <a:ext cx="867485" cy="115439"/>
            <a:chOff x="8910933" y="1861308"/>
            <a:chExt cx="867485" cy="115439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D4386904-AFDC-449E-8D1B-906B305EB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8964825" flipH="1">
              <a:off x="9286956" y="1861308"/>
              <a:ext cx="115439" cy="115439"/>
            </a:xfrm>
            <a:prstGeom prst="rect">
              <a:avLst/>
            </a:prstGeom>
            <a:noFill/>
            <a:ln w="15875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F70778F2-11E8-428C-8324-479CA9D6FE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426289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4A0BE89E-CB2D-48BA-A8D2-533FAAAA72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910933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81" name="Rectangle 80">
            <a:extLst>
              <a:ext uri="{FF2B5EF4-FFF2-40B4-BE49-F238E27FC236}">
                <a16:creationId xmlns:a16="http://schemas.microsoft.com/office/drawing/2014/main" id="{DD8EACB7-D372-470B-B76E-A829D00310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2DBEA261-C1DE-01FE-8EE2-158A2B3E5B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>
          <a:xfrm>
            <a:off x="20" y="10"/>
            <a:ext cx="12191980" cy="6857989"/>
          </a:xfrm>
          <a:prstGeom prst="rect">
            <a:avLst/>
          </a:prstGeom>
        </p:spPr>
      </p:pic>
      <p:sp>
        <p:nvSpPr>
          <p:cNvPr id="83" name="Rectangle 5">
            <a:extLst>
              <a:ext uri="{FF2B5EF4-FFF2-40B4-BE49-F238E27FC236}">
                <a16:creationId xmlns:a16="http://schemas.microsoft.com/office/drawing/2014/main" id="{FDCD62BB-F134-412E-AF5B-602B044584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3900" y="750337"/>
            <a:ext cx="4580642" cy="5494694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3058886 w 6096000"/>
              <a:gd name="connsiteY3" fmla="*/ 6858000 h 6858000"/>
              <a:gd name="connsiteX4" fmla="*/ 0 w 6096000"/>
              <a:gd name="connsiteY4" fmla="*/ 6858000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3037115 w 6096000"/>
              <a:gd name="connsiteY3" fmla="*/ 5889172 h 6858000"/>
              <a:gd name="connsiteX4" fmla="*/ 0 w 6096000"/>
              <a:gd name="connsiteY4" fmla="*/ 6858000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6096000" y="6858000"/>
                </a:lnTo>
                <a:lnTo>
                  <a:pt x="3037115" y="5889172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alpha val="8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56E2D7-FF2C-BBC3-5FE3-DC5DF06E7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8561" y="1066801"/>
            <a:ext cx="3931320" cy="227761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2800" b="1" kern="1200" cap="all" spc="390" baseline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The Physical Baseline </a:t>
            </a:r>
            <a:br>
              <a:rPr lang="en-US" sz="2800" b="1" kern="1200" cap="all" spc="390" baseline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r>
              <a:rPr lang="en-US" sz="2800" b="1" kern="1200" cap="all" spc="390" baseline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(Size Matters)</a:t>
            </a:r>
            <a:br>
              <a:rPr lang="en-US" sz="2800" b="1" kern="1200" cap="all" spc="390" baseline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endParaRPr lang="en-US" sz="2800" b="1" kern="1200" cap="all" spc="390" baseline="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F1732D3A-CFF0-45BE-AD79-F83D0272C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80479" y="3871114"/>
            <a:ext cx="867485" cy="115439"/>
            <a:chOff x="8910933" y="1861308"/>
            <a:chExt cx="867485" cy="115439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C892F72C-7FB6-49C8-A402-D5DC42DB67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8964825" flipH="1">
              <a:off x="9286956" y="1861308"/>
              <a:ext cx="115439" cy="115439"/>
            </a:xfrm>
            <a:prstGeom prst="rect">
              <a:avLst/>
            </a:prstGeom>
            <a:noFill/>
            <a:ln w="15875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FC92C2E1-605F-49BD-8AC8-DC52B3015E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426289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8BE2E0F-EE6D-4748-AB8F-724D0DDC6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910933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3775F40-37A0-57AF-2F00-14CB27A6F7B9}"/>
              </a:ext>
            </a:extLst>
          </p:cNvPr>
          <p:cNvSpPr txBox="1"/>
          <p:nvPr/>
        </p:nvSpPr>
        <p:spPr>
          <a:xfrm>
            <a:off x="1364343" y="4379879"/>
            <a:ext cx="621211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Z" sz="2800" dirty="0"/>
              <a:t>Land Area vs. Price</a:t>
            </a:r>
            <a:br>
              <a:rPr lang="en-US" sz="2800" b="1" kern="1200" cap="all" spc="390" baseline="0" dirty="0">
                <a:solidFill>
                  <a:schemeClr val="tx2"/>
                </a:solidFill>
                <a:ea typeface="+mj-ea"/>
                <a:cs typeface="+mj-cs"/>
              </a:rPr>
            </a:br>
            <a:endParaRPr lang="en-US" sz="2800" dirty="0"/>
          </a:p>
        </p:txBody>
      </p:sp>
      <p:graphicFrame>
        <p:nvGraphicFramePr>
          <p:cNvPr id="90" name="TextBox 22">
            <a:extLst>
              <a:ext uri="{FF2B5EF4-FFF2-40B4-BE49-F238E27FC236}">
                <a16:creationId xmlns:a16="http://schemas.microsoft.com/office/drawing/2014/main" id="{67ECB7D1-AE7B-5C9A-41BC-AC649964FC1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4452777"/>
              </p:ext>
            </p:extLst>
          </p:nvPr>
        </p:nvGraphicFramePr>
        <p:xfrm>
          <a:off x="5581661" y="684890"/>
          <a:ext cx="6172300" cy="18802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A72533C6-509C-A881-90E2-ABAB4B4C0180}"/>
              </a:ext>
            </a:extLst>
          </p:cNvPr>
          <p:cNvSpPr txBox="1"/>
          <p:nvPr/>
        </p:nvSpPr>
        <p:spPr>
          <a:xfrm>
            <a:off x="4735514" y="6003478"/>
            <a:ext cx="77488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dirty="0">
                <a:solidFill>
                  <a:schemeClr val="bg1"/>
                </a:solidFill>
              </a:rPr>
              <a:t>Size sets the "floor" for the price, but doesn't explain the "ceiling."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0F07B0F6-E088-4D99-1B77-A2E56ECDA74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67160" y="2620064"/>
            <a:ext cx="5322632" cy="3269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354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A18B26-AD72-BEC0-B0E7-2B2982B60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73">
            <a:extLst>
              <a:ext uri="{FF2B5EF4-FFF2-40B4-BE49-F238E27FC236}">
                <a16:creationId xmlns:a16="http://schemas.microsoft.com/office/drawing/2014/main" id="{2C38A1E1-A73A-5396-1C3D-928A49F44D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0920" y="157606"/>
            <a:ext cx="11870161" cy="654278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D41B2B5-F21C-14FB-4C35-77B4A5BDF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62258" y="4240546"/>
            <a:ext cx="867485" cy="115439"/>
            <a:chOff x="8910933" y="1861308"/>
            <a:chExt cx="867485" cy="115439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67389754-A758-883E-18B4-F205F85F59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8964825" flipH="1">
              <a:off x="9286956" y="1861308"/>
              <a:ext cx="115439" cy="115439"/>
            </a:xfrm>
            <a:prstGeom prst="rect">
              <a:avLst/>
            </a:prstGeom>
            <a:noFill/>
            <a:ln w="15875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3D3663DE-CC7D-CFBA-3284-A57CE7C0B2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426289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E03B7E11-3777-A9E3-D789-7CEB96921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910933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81" name="Rectangle 80">
            <a:extLst>
              <a:ext uri="{FF2B5EF4-FFF2-40B4-BE49-F238E27FC236}">
                <a16:creationId xmlns:a16="http://schemas.microsoft.com/office/drawing/2014/main" id="{78652A6D-66E8-979E-EEA2-B21B4CD6F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593BDEB7-FF8E-9083-76C2-9E1603B313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>
          <a:xfrm>
            <a:off x="20" y="10"/>
            <a:ext cx="12191980" cy="6857989"/>
          </a:xfrm>
          <a:prstGeom prst="rect">
            <a:avLst/>
          </a:prstGeom>
        </p:spPr>
      </p:pic>
      <p:sp>
        <p:nvSpPr>
          <p:cNvPr id="83" name="Rectangle 5">
            <a:extLst>
              <a:ext uri="{FF2B5EF4-FFF2-40B4-BE49-F238E27FC236}">
                <a16:creationId xmlns:a16="http://schemas.microsoft.com/office/drawing/2014/main" id="{118C96B5-D018-0F3E-179C-1B405CB646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3900" y="750337"/>
            <a:ext cx="4580642" cy="5494694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3058886 w 6096000"/>
              <a:gd name="connsiteY3" fmla="*/ 6858000 h 6858000"/>
              <a:gd name="connsiteX4" fmla="*/ 0 w 6096000"/>
              <a:gd name="connsiteY4" fmla="*/ 6858000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3037115 w 6096000"/>
              <a:gd name="connsiteY3" fmla="*/ 5889172 h 6858000"/>
              <a:gd name="connsiteX4" fmla="*/ 0 w 6096000"/>
              <a:gd name="connsiteY4" fmla="*/ 6858000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6096000" y="6858000"/>
                </a:lnTo>
                <a:lnTo>
                  <a:pt x="3037115" y="5889172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alpha val="8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11B8D4-3C4F-C9FD-1E73-3D5DA87B4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8561" y="1066801"/>
            <a:ext cx="3931320" cy="162763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NZ" b="1" i="1" dirty="0"/>
              <a:t>The ”Luxury factor" (Amenities)</a:t>
            </a:r>
            <a:endParaRPr lang="en-US" b="1" i="1" kern="1200" cap="all" spc="390" baseline="0" dirty="0">
              <a:solidFill>
                <a:schemeClr val="tx2"/>
              </a:solidFill>
            </a:endParaRPr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075E1A1F-B271-8787-CC4F-059AB28222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80479" y="3871114"/>
            <a:ext cx="867485" cy="115439"/>
            <a:chOff x="8910933" y="1861308"/>
            <a:chExt cx="867485" cy="115439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FB970D1F-BFEB-88CA-4469-3BEC8E1056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8964825" flipH="1">
              <a:off x="9286956" y="1861308"/>
              <a:ext cx="115439" cy="115439"/>
            </a:xfrm>
            <a:prstGeom prst="rect">
              <a:avLst/>
            </a:prstGeom>
            <a:noFill/>
            <a:ln w="15875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D43AA60C-C6F1-95EB-7763-51D0938E11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426289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03453B5-7F36-8B42-EB92-B16BD339AD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910933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EE1B3DE-BD52-BD04-CA33-C537C50DE4A0}"/>
              </a:ext>
            </a:extLst>
          </p:cNvPr>
          <p:cNvSpPr txBox="1"/>
          <p:nvPr/>
        </p:nvSpPr>
        <p:spPr>
          <a:xfrm>
            <a:off x="849186" y="4216653"/>
            <a:ext cx="4317900" cy="830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NZ" sz="2400" dirty="0"/>
              <a:t>The Power of Air Conditioning &amp; Furnishing</a:t>
            </a:r>
            <a:endParaRPr lang="en-US" sz="2400" dirty="0"/>
          </a:p>
        </p:txBody>
      </p:sp>
      <p:graphicFrame>
        <p:nvGraphicFramePr>
          <p:cNvPr id="90" name="TextBox 22">
            <a:extLst>
              <a:ext uri="{FF2B5EF4-FFF2-40B4-BE49-F238E27FC236}">
                <a16:creationId xmlns:a16="http://schemas.microsoft.com/office/drawing/2014/main" id="{563D581C-9C15-C183-5D78-4EAA56F317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4122991"/>
              </p:ext>
            </p:extLst>
          </p:nvPr>
        </p:nvGraphicFramePr>
        <p:xfrm>
          <a:off x="5627511" y="750337"/>
          <a:ext cx="6080601" cy="16586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6BF1D68-2C31-188A-509B-31FF2C3F0C3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4197" y="2516552"/>
            <a:ext cx="5328617" cy="32527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812E6F0-6361-48E2-0FA9-4CB9837168D2}"/>
              </a:ext>
            </a:extLst>
          </p:cNvPr>
          <p:cNvSpPr txBox="1"/>
          <p:nvPr/>
        </p:nvSpPr>
        <p:spPr>
          <a:xfrm>
            <a:off x="5425440" y="5820769"/>
            <a:ext cx="68470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1600" b="1" dirty="0">
                <a:solidFill>
                  <a:schemeClr val="bg1"/>
                </a:solidFill>
              </a:rPr>
              <a:t>Descriptive aggregation shows that adding AC increases the average price by nearly 43% ($1.8M), which is a massive ROI compared to simply adding more square footage."</a:t>
            </a:r>
            <a:r>
              <a:rPr lang="en-NZ" sz="1600" dirty="0">
                <a:solidFill>
                  <a:schemeClr val="bg1"/>
                </a:solidFill>
              </a:rPr>
              <a:t> 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4275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DD3B15-F169-910B-1DDB-FC2CBD411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73">
            <a:extLst>
              <a:ext uri="{FF2B5EF4-FFF2-40B4-BE49-F238E27FC236}">
                <a16:creationId xmlns:a16="http://schemas.microsoft.com/office/drawing/2014/main" id="{9AA6DC90-402C-F4CA-C4C2-C265341D6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0920" y="157606"/>
            <a:ext cx="11870161" cy="654278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1B2088C-F1DA-92DB-F2FA-D46D70F7D5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62258" y="4240546"/>
            <a:ext cx="867485" cy="115439"/>
            <a:chOff x="8910933" y="1861308"/>
            <a:chExt cx="867485" cy="115439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95633A9D-DA7D-B876-500E-082309CF7F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8964825" flipH="1">
              <a:off x="9286956" y="1861308"/>
              <a:ext cx="115439" cy="115439"/>
            </a:xfrm>
            <a:prstGeom prst="rect">
              <a:avLst/>
            </a:prstGeom>
            <a:noFill/>
            <a:ln w="15875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6130657E-D8B3-18F4-1953-8AF1A371E1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426289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51A44617-0E9B-51A0-46FA-450031AB21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910933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81" name="Rectangle 80">
            <a:extLst>
              <a:ext uri="{FF2B5EF4-FFF2-40B4-BE49-F238E27FC236}">
                <a16:creationId xmlns:a16="http://schemas.microsoft.com/office/drawing/2014/main" id="{802088C7-0CF4-6F16-F224-9E0360747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3293E7A6-1976-9898-3800-A2E8DC564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>
          <a:xfrm>
            <a:off x="0" y="10"/>
            <a:ext cx="12191980" cy="6857989"/>
          </a:xfrm>
          <a:prstGeom prst="rect">
            <a:avLst/>
          </a:prstGeom>
        </p:spPr>
      </p:pic>
      <p:sp>
        <p:nvSpPr>
          <p:cNvPr id="83" name="Rectangle 5">
            <a:extLst>
              <a:ext uri="{FF2B5EF4-FFF2-40B4-BE49-F238E27FC236}">
                <a16:creationId xmlns:a16="http://schemas.microsoft.com/office/drawing/2014/main" id="{BD4A6616-6135-16CE-F1BB-169099613D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3900" y="750337"/>
            <a:ext cx="4580642" cy="5494694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3058886 w 6096000"/>
              <a:gd name="connsiteY3" fmla="*/ 6858000 h 6858000"/>
              <a:gd name="connsiteX4" fmla="*/ 0 w 6096000"/>
              <a:gd name="connsiteY4" fmla="*/ 6858000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3037115 w 6096000"/>
              <a:gd name="connsiteY3" fmla="*/ 5889172 h 6858000"/>
              <a:gd name="connsiteX4" fmla="*/ 0 w 6096000"/>
              <a:gd name="connsiteY4" fmla="*/ 6858000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6096000" y="6858000"/>
                </a:lnTo>
                <a:lnTo>
                  <a:pt x="3037115" y="5889172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alpha val="8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6556DE-997D-B156-051D-DE95C5CEF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6948" y="1164866"/>
            <a:ext cx="3931320" cy="173210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NZ" b="1" i="1" dirty="0"/>
              <a:t>Location </a:t>
            </a:r>
            <a:br>
              <a:rPr lang="en-NZ" b="1" i="1" dirty="0"/>
            </a:br>
            <a:r>
              <a:rPr lang="en-NZ" b="1" i="1" dirty="0"/>
              <a:t>&amp;</a:t>
            </a:r>
            <a:br>
              <a:rPr lang="en-NZ" b="1" i="1" dirty="0"/>
            </a:br>
            <a:r>
              <a:rPr lang="en-NZ" b="1" i="1" dirty="0"/>
              <a:t> Infrastructure</a:t>
            </a:r>
            <a:endParaRPr lang="en-US" b="1" i="1" kern="1200" cap="all" spc="390" baseline="0" dirty="0">
              <a:solidFill>
                <a:schemeClr val="tx2"/>
              </a:solidFill>
            </a:endParaRPr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13E27E7-C9A1-F6F6-01AB-0D334725CD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80479" y="3871114"/>
            <a:ext cx="867485" cy="115439"/>
            <a:chOff x="8910933" y="1861308"/>
            <a:chExt cx="867485" cy="115439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B41A6206-B37F-1C20-1237-5B1DB09EA1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8964825" flipH="1">
              <a:off x="9286956" y="1861308"/>
              <a:ext cx="115439" cy="115439"/>
            </a:xfrm>
            <a:prstGeom prst="rect">
              <a:avLst/>
            </a:prstGeom>
            <a:noFill/>
            <a:ln w="15875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BFFFB89E-8587-01D5-E1BE-776BA6F139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426289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DF18C78-BA6A-8BFA-A2BA-B39365B33B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910933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9CBEBCB-DC92-D7F5-3ABF-64594BF4A9D4}"/>
              </a:ext>
            </a:extLst>
          </p:cNvPr>
          <p:cNvSpPr txBox="1"/>
          <p:nvPr/>
        </p:nvSpPr>
        <p:spPr>
          <a:xfrm>
            <a:off x="949795" y="4290732"/>
            <a:ext cx="62121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Z" sz="2400" dirty="0"/>
              <a:t>The Value of  "Preferred Areas"</a:t>
            </a:r>
            <a:endParaRPr lang="en-US" sz="2400" dirty="0"/>
          </a:p>
        </p:txBody>
      </p:sp>
      <p:graphicFrame>
        <p:nvGraphicFramePr>
          <p:cNvPr id="90" name="TextBox 22">
            <a:extLst>
              <a:ext uri="{FF2B5EF4-FFF2-40B4-BE49-F238E27FC236}">
                <a16:creationId xmlns:a16="http://schemas.microsoft.com/office/drawing/2014/main" id="{341D0EF4-13B5-92C0-938D-9A6329BC2DD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51384575"/>
              </p:ext>
            </p:extLst>
          </p:nvPr>
        </p:nvGraphicFramePr>
        <p:xfrm>
          <a:off x="5735129" y="773642"/>
          <a:ext cx="5732971" cy="14950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B698F321-75DD-E1E0-3C02-7A2AD18479E4}"/>
              </a:ext>
            </a:extLst>
          </p:cNvPr>
          <p:cNvSpPr txBox="1"/>
          <p:nvPr/>
        </p:nvSpPr>
        <p:spPr>
          <a:xfrm>
            <a:off x="5465462" y="6002599"/>
            <a:ext cx="62121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sz="1600" dirty="0">
                <a:solidFill>
                  <a:schemeClr val="bg1"/>
                </a:solidFill>
              </a:rPr>
              <a:t>You can't change a house's location; the market places a heavy premium on prestige and connectivity.</a:t>
            </a:r>
            <a:endParaRPr lang="en-US" sz="16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EB93C8-926D-1A87-7AA3-DBBF6C80AAC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48441" y="2390242"/>
            <a:ext cx="5906346" cy="362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148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58E38A4-F699-490C-8D1F-E8AD332D9B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9C6AAB-48AC-41A3-95C2-6BF83715DF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6EE861B-7D2F-4B7C-A6E3-5937E81B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60903" y="159026"/>
            <a:ext cx="5778697" cy="654278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4AA27D-38C1-8A60-AF1A-62E357AD5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760" y="512068"/>
            <a:ext cx="5364480" cy="5974076"/>
          </a:xfrm>
        </p:spPr>
        <p:txBody>
          <a:bodyPr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NZ" b="1" dirty="0"/>
              <a:t>Conclusion &amp; Strategy</a:t>
            </a:r>
          </a:p>
          <a:p>
            <a:pPr algn="ctr">
              <a:lnSpc>
                <a:spcPct val="100000"/>
              </a:lnSpc>
            </a:pPr>
            <a:r>
              <a:rPr lang="en-NZ" dirty="0"/>
              <a:t>Summary:  The Ideal Investment</a:t>
            </a:r>
          </a:p>
          <a:p>
            <a:pPr algn="ctr">
              <a:lnSpc>
                <a:spcPct val="100000"/>
              </a:lnSpc>
            </a:pPr>
            <a:endParaRPr lang="en-NZ" dirty="0"/>
          </a:p>
          <a:p>
            <a:pPr algn="ctr">
              <a:lnSpc>
                <a:spcPct val="100000"/>
              </a:lnSpc>
            </a:pPr>
            <a:r>
              <a:rPr lang="en-NZ" b="1" dirty="0"/>
              <a:t>Key Takeaways:</a:t>
            </a:r>
            <a:endParaRPr lang="en-NZ" dirty="0"/>
          </a:p>
          <a:p>
            <a:pPr lvl="1">
              <a:lnSpc>
                <a:spcPct val="100000"/>
              </a:lnSpc>
            </a:pPr>
            <a:r>
              <a:rPr lang="en-NZ" sz="2000" b="1" dirty="0"/>
              <a:t>For Sellers:</a:t>
            </a:r>
            <a:r>
              <a:rPr lang="en-NZ" sz="2000" dirty="0"/>
              <a:t> Installing AC and semi-furnishing a home yields a higher ROI than major structural changes.</a:t>
            </a:r>
          </a:p>
          <a:p>
            <a:pPr lvl="1">
              <a:lnSpc>
                <a:spcPct val="100000"/>
              </a:lnSpc>
            </a:pPr>
            <a:r>
              <a:rPr lang="en-NZ" sz="2000" b="1" dirty="0"/>
              <a:t>For Buyers:</a:t>
            </a:r>
            <a:r>
              <a:rPr lang="en-NZ" sz="2000" dirty="0"/>
              <a:t> The best "value" is found in unfurnished homes in preferred areas—size is fixed, but amenities can be added.</a:t>
            </a:r>
          </a:p>
          <a:p>
            <a:pPr marL="45720" lvl="1" indent="0">
              <a:lnSpc>
                <a:spcPct val="100000"/>
              </a:lnSpc>
              <a:buNone/>
            </a:pPr>
            <a:endParaRPr lang="en-NZ" sz="2000" dirty="0"/>
          </a:p>
          <a:p>
            <a:pPr algn="ctr">
              <a:lnSpc>
                <a:spcPct val="100000"/>
              </a:lnSpc>
            </a:pPr>
            <a:r>
              <a:rPr lang="en-NZ" b="1" dirty="0"/>
              <a:t>Final Thought:</a:t>
            </a:r>
            <a:r>
              <a:rPr lang="en-NZ" dirty="0"/>
              <a:t> Data shows that comfort and location outweigh raw square footage in </a:t>
            </a:r>
            <a:r>
              <a:rPr lang="en-NZ"/>
              <a:t>the </a:t>
            </a:r>
          </a:p>
          <a:p>
            <a:pPr algn="ctr">
              <a:lnSpc>
                <a:spcPct val="100000"/>
              </a:lnSpc>
            </a:pPr>
            <a:r>
              <a:rPr lang="en-NZ"/>
              <a:t>high-end </a:t>
            </a:r>
            <a:r>
              <a:rPr lang="en-NZ" dirty="0"/>
              <a:t>market.</a:t>
            </a:r>
          </a:p>
          <a:p>
            <a:pPr algn="ctr">
              <a:lnSpc>
                <a:spcPct val="100000"/>
              </a:lnSpc>
            </a:pPr>
            <a:endParaRPr lang="en-US" dirty="0"/>
          </a:p>
        </p:txBody>
      </p:sp>
      <p:pic>
        <p:nvPicPr>
          <p:cNvPr id="5" name="Picture 4" descr="Key on a blueprint for a house">
            <a:extLst>
              <a:ext uri="{FF2B5EF4-FFF2-40B4-BE49-F238E27FC236}">
                <a16:creationId xmlns:a16="http://schemas.microsoft.com/office/drawing/2014/main" id="{8E736E19-0C6D-263C-8E1D-27D0D2A0198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28433" r="4901"/>
          <a:stretch>
            <a:fillRect/>
          </a:stretch>
        </p:blipFill>
        <p:spPr>
          <a:xfrm>
            <a:off x="1681" y="10"/>
            <a:ext cx="6106821" cy="685799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3745597-CF0F-4C14-83C4-612B382A90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710258" y="5849932"/>
            <a:ext cx="867485" cy="115439"/>
            <a:chOff x="8910933" y="1861308"/>
            <a:chExt cx="867485" cy="11543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71CB755-D435-4BD8-A3DB-B304ED0E7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8964825" flipH="1">
              <a:off x="9286956" y="1861308"/>
              <a:ext cx="115439" cy="115439"/>
            </a:xfrm>
            <a:prstGeom prst="rect">
              <a:avLst/>
            </a:prstGeom>
            <a:noFill/>
            <a:ln w="15875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B7F2CAE-48A1-4EAD-BDD1-4DA217AC0F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426289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8FB73A0-9D61-4989-BA5F-7EF6308D86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910933" y="1919027"/>
              <a:ext cx="352129" cy="0"/>
            </a:xfrm>
            <a:prstGeom prst="line">
              <a:avLst/>
            </a:prstGeom>
            <a:ln w="158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6711327"/>
      </p:ext>
    </p:extLst>
  </p:cSld>
  <p:clrMapOvr>
    <a:masterClrMapping/>
  </p:clrMapOvr>
</p:sld>
</file>

<file path=ppt/theme/theme1.xml><?xml version="1.0" encoding="utf-8"?>
<a:theme xmlns:a="http://schemas.openxmlformats.org/drawingml/2006/main" name="AdornVTI">
  <a:themeElements>
    <a:clrScheme name="GC1">
      <a:dk1>
        <a:sysClr val="windowText" lastClr="000000"/>
      </a:dk1>
      <a:lt1>
        <a:sysClr val="window" lastClr="FFFFFF"/>
      </a:lt1>
      <a:dk2>
        <a:srgbClr val="2C2830"/>
      </a:dk2>
      <a:lt2>
        <a:srgbClr val="E0DCE1"/>
      </a:lt2>
      <a:accent1>
        <a:srgbClr val="908193"/>
      </a:accent1>
      <a:accent2>
        <a:srgbClr val="A08889"/>
      </a:accent2>
      <a:accent3>
        <a:srgbClr val="B48C7E"/>
      </a:accent3>
      <a:accent4>
        <a:srgbClr val="809C9B"/>
      </a:accent4>
      <a:accent5>
        <a:srgbClr val="899F91"/>
      </a:accent5>
      <a:accent6>
        <a:srgbClr val="728274"/>
      </a:accent6>
      <a:hlink>
        <a:srgbClr val="837585"/>
      </a:hlink>
      <a:folHlink>
        <a:srgbClr val="677E83"/>
      </a:folHlink>
    </a:clrScheme>
    <a:fontScheme name="Bembo">
      <a:majorFont>
        <a:latin typeface="Bembo"/>
        <a:ea typeface=""/>
        <a:cs typeface=""/>
      </a:majorFont>
      <a:minorFont>
        <a:latin typeface="Bemb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dornVTI" id="{497E3FA9-5A27-4D12-9D04-917BEF3D1303}" vid="{34192A01-61CA-4566-9818-841C607496F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295</Words>
  <Application>Microsoft Macintosh PowerPoint</Application>
  <PresentationFormat>Widescreen</PresentationFormat>
  <Paragraphs>29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Bembo</vt:lpstr>
      <vt:lpstr>AdornVTI</vt:lpstr>
      <vt:lpstr>Decoding the Housing Market</vt:lpstr>
      <vt:lpstr>The Physical Baseline  (Size Matters) </vt:lpstr>
      <vt:lpstr>The ”Luxury factor" (Amenities)</vt:lpstr>
      <vt:lpstr>Location  &amp;  Infrastructure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Earl Destriza Tavera</dc:creator>
  <cp:lastModifiedBy>Earl Destriza Tavera</cp:lastModifiedBy>
  <cp:revision>3</cp:revision>
  <dcterms:created xsi:type="dcterms:W3CDTF">2026-04-12T10:02:07Z</dcterms:created>
  <dcterms:modified xsi:type="dcterms:W3CDTF">2026-04-12T11:40:32Z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96ed6d7-747c-41fd-b042-ff14484edc24_Enabled">
    <vt:lpwstr>true</vt:lpwstr>
  </property>
  <property fmtid="{D5CDD505-2E9C-101B-9397-08002B2CF9AE}" pid="3" name="MSIP_Label_c96ed6d7-747c-41fd-b042-ff14484edc24_SetDate">
    <vt:lpwstr>2026-04-12T11:12:23Z</vt:lpwstr>
  </property>
  <property fmtid="{D5CDD505-2E9C-101B-9397-08002B2CF9AE}" pid="4" name="MSIP_Label_c96ed6d7-747c-41fd-b042-ff14484edc24_Method">
    <vt:lpwstr>Standard</vt:lpwstr>
  </property>
  <property fmtid="{D5CDD505-2E9C-101B-9397-08002B2CF9AE}" pid="5" name="MSIP_Label_c96ed6d7-747c-41fd-b042-ff14484edc24_Name">
    <vt:lpwstr>defa4170-0d19-0005-0004-bc88714345d2</vt:lpwstr>
  </property>
  <property fmtid="{D5CDD505-2E9C-101B-9397-08002B2CF9AE}" pid="6" name="MSIP_Label_c96ed6d7-747c-41fd-b042-ff14484edc24_SiteId">
    <vt:lpwstr>6a425d0d-58f2-4e36-8689-10002b2ec567</vt:lpwstr>
  </property>
  <property fmtid="{D5CDD505-2E9C-101B-9397-08002B2CF9AE}" pid="7" name="MSIP_Label_c96ed6d7-747c-41fd-b042-ff14484edc24_ActionId">
    <vt:lpwstr>ff8dd01b-0148-40a1-9d10-ad598902a86b</vt:lpwstr>
  </property>
  <property fmtid="{D5CDD505-2E9C-101B-9397-08002B2CF9AE}" pid="8" name="MSIP_Label_c96ed6d7-747c-41fd-b042-ff14484edc24_ContentBits">
    <vt:lpwstr>0</vt:lpwstr>
  </property>
  <property fmtid="{D5CDD505-2E9C-101B-9397-08002B2CF9AE}" pid="9" name="MSIP_Label_c96ed6d7-747c-41fd-b042-ff14484edc24_Tag">
    <vt:lpwstr>50, 3, 0, 1</vt:lpwstr>
  </property>
</Properties>
</file>