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NZ" sz="1200" b="0" i="0" u="none" strike="noStrike">
                <a:solidFill>
                  <a:srgbClr val="0D2137"/>
                </a:solidFill>
                <a:latin typeface="Arial"/>
              </a:rPr>
              <a:t>Average RMSE by Model (lower =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RMSE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06-4E4F-BAED-F925F0C4B693}"/>
              </c:ext>
            </c:extLst>
          </c:dPt>
          <c:dPt>
            <c:idx val="1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06-4E4F-BAED-F925F0C4B693}"/>
              </c:ext>
            </c:extLst>
          </c:dPt>
          <c:dPt>
            <c:idx val="2"/>
            <c:invertIfNegative val="0"/>
            <c:bubble3D val="0"/>
            <c:spPr>
              <a:solidFill>
                <a:srgbClr val="9C27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06-4E4F-BAED-F925F0C4B693}"/>
              </c:ext>
            </c:extLst>
          </c:dPt>
          <c:dPt>
            <c:idx val="3"/>
            <c:invertIfNegative val="0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06-4E4F-BAED-F925F0C4B693}"/>
              </c:ext>
            </c:extLst>
          </c:dPt>
          <c:dPt>
            <c:idx val="4"/>
            <c:invertIfNegative val="0"/>
            <c:bubble3D val="0"/>
            <c:spPr>
              <a:solidFill>
                <a:srgbClr val="FF57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06-4E4F-BAED-F925F0C4B6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 (GBM)</c:v>
                </c:pt>
                <c:pt idx="1">
                  <c:v>Linear Reg.</c:v>
                </c:pt>
                <c:pt idx="2">
                  <c:v>ANN</c:v>
                </c:pt>
                <c:pt idx="3">
                  <c:v>ARIMA(1,1,1)</c:v>
                </c:pt>
                <c:pt idx="4">
                  <c:v>LSTM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5.5999999999999999E-3</c:v>
                </c:pt>
                <c:pt idx="1">
                  <c:v>0.36530000000000001</c:v>
                </c:pt>
                <c:pt idx="2">
                  <c:v>0.37259999999999999</c:v>
                </c:pt>
                <c:pt idx="3">
                  <c:v>0.52849999999999997</c:v>
                </c:pt>
                <c:pt idx="4">
                  <c:v>1.0849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106-4E4F-BAED-F925F0C4B6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8F4F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NZ" sz="1200" b="0" i="0" u="none" strike="noStrike">
                <a:solidFill>
                  <a:srgbClr val="0D2137"/>
                </a:solidFill>
                <a:latin typeface="Arial"/>
              </a:rPr>
              <a:t>Avg R² Score (higher =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R²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1C-CD43-8C20-E56144AB5E9D}"/>
              </c:ext>
            </c:extLst>
          </c:dPt>
          <c:dPt>
            <c:idx val="1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1C-CD43-8C20-E56144AB5E9D}"/>
              </c:ext>
            </c:extLst>
          </c:dPt>
          <c:dPt>
            <c:idx val="2"/>
            <c:invertIfNegative val="0"/>
            <c:bubble3D val="0"/>
            <c:spPr>
              <a:solidFill>
                <a:srgbClr val="9C27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1C-CD43-8C20-E56144AB5E9D}"/>
              </c:ext>
            </c:extLst>
          </c:dPt>
          <c:dPt>
            <c:idx val="3"/>
            <c:invertIfNegative val="0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1C-CD43-8C20-E56144AB5E9D}"/>
              </c:ext>
            </c:extLst>
          </c:dPt>
          <c:dPt>
            <c:idx val="4"/>
            <c:invertIfNegative val="0"/>
            <c:bubble3D val="0"/>
            <c:spPr>
              <a:solidFill>
                <a:srgbClr val="FF57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01C-CD43-8C20-E56144AB5E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 (GBM)</c:v>
                </c:pt>
                <c:pt idx="1">
                  <c:v>Linear Reg.</c:v>
                </c:pt>
                <c:pt idx="2">
                  <c:v>ANN</c:v>
                </c:pt>
                <c:pt idx="3">
                  <c:v>ARIMA(1,1,1)</c:v>
                </c:pt>
                <c:pt idx="4">
                  <c:v>LSTM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0.79900000000000004</c:v>
                </c:pt>
                <c:pt idx="2">
                  <c:v>0.69299999999999995</c:v>
                </c:pt>
                <c:pt idx="3">
                  <c:v>0.39300000000000002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01C-CD43-8C20-E56144AB5E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0EEE0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8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Life Satisfaction 2014–2020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 cap="flat">
              <a:solidFill>
                <a:srgbClr val="21212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2121"/>
              </a:solidFill>
              <a:ln w="9525" cap="flat">
                <a:solidFill>
                  <a:srgbClr val="212121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2014</c:v>
                </c:pt>
                <c:pt idx="1">
                  <c:v>2016</c:v>
                </c:pt>
                <c:pt idx="2">
                  <c:v>2018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</c:v>
                </c:pt>
                <c:pt idx="1">
                  <c:v>7.8</c:v>
                </c:pt>
                <c:pt idx="2">
                  <c:v>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7F-6A48-B578-DF4630E939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Reg. 2020</c:v>
                </c:pt>
              </c:strCache>
            </c:strRef>
          </c:tx>
          <c:spPr>
            <a:ln w="38100" cap="flat">
              <a:solidFill>
                <a:srgbClr val="2196F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2016</c:v>
                </c:pt>
                <c:pt idx="2">
                  <c:v>2018</c:v>
                </c:pt>
                <c:pt idx="3">
                  <c:v>2020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7.8</c:v>
                </c:pt>
                <c:pt idx="1">
                  <c:v>7.8</c:v>
                </c:pt>
                <c:pt idx="2">
                  <c:v>7.7</c:v>
                </c:pt>
                <c:pt idx="3">
                  <c:v>7.6669999999999998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7F-6A48-B578-DF4630E939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 2020</c:v>
                </c:pt>
              </c:strCache>
            </c:strRef>
          </c:tx>
          <c:spPr>
            <a:ln w="38100" cap="flat">
              <a:solidFill>
                <a:srgbClr val="4CAF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CAF50"/>
              </a:solidFill>
              <a:ln w="9525" cap="flat">
                <a:solidFill>
                  <a:srgbClr val="4CAF5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2016</c:v>
                </c:pt>
                <c:pt idx="2">
                  <c:v>2018</c:v>
                </c:pt>
                <c:pt idx="3">
                  <c:v>2020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7.8</c:v>
                </c:pt>
                <c:pt idx="1">
                  <c:v>7.8</c:v>
                </c:pt>
                <c:pt idx="2">
                  <c:v>7.7</c:v>
                </c:pt>
                <c:pt idx="3">
                  <c:v>7.7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7F-6A48-B578-DF4630E939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ARIMA 2020</c:v>
                </c:pt>
              </c:strCache>
            </c:strRef>
          </c:tx>
          <c:spPr>
            <a:ln w="38100" cap="flat">
              <a:solidFill>
                <a:srgbClr val="FF98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800"/>
              </a:solidFill>
              <a:ln w="9525" cap="flat">
                <a:solidFill>
                  <a:srgbClr val="FF9800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2016</c:v>
                </c:pt>
                <c:pt idx="2">
                  <c:v>2018</c:v>
                </c:pt>
                <c:pt idx="3">
                  <c:v>2020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7.8</c:v>
                </c:pt>
                <c:pt idx="1">
                  <c:v>7.8</c:v>
                </c:pt>
                <c:pt idx="2">
                  <c:v>7.7</c:v>
                </c:pt>
                <c:pt idx="3">
                  <c:v>7.7050000000000001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C7F-6A48-B578-DF4630E939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7.4"/>
        </c:scaling>
        <c:delete val="0"/>
        <c:axPos val="l"/>
        <c:majorGridlines>
          <c:spPr>
            <a:ln w="6350" cap="flat">
              <a:solidFill>
                <a:srgbClr val="D0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E8F4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43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This project forecasts 10 NZ wellbeing indicators using 5 distinct models on Stats NZ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dataset scope and research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10 indicators extracted from the 'Total population' rows across 20 survey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implemented in Python. LSTM and ANN built from scratch in numpy — no external deep learning libraries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achieves near-perfect fit on training data. Important caveat: with only 3 data points, overfitting is a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2020 forecast table across all 5 models for all 10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 satisfaction has been remarkably stable around 7.7–7.8. Models agree on a slight downward drift to ~7.68 by 2020.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dominates with R²=1.0 on all indicators. Linear Regression and ANN also perform well on smoother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wins decisively. Key caveat: with 3 data points, XGBoost may overfit; cross-dataset generalization should be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1162" y="228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NZ Wellbeing Forecasting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1162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Linear Regression · XGBoost · LSTM · ANN · ARIMA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1162" y="14401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General Social Survey · 2014–2018 · Forecast: 2020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2809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474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28090">
              <a:alpha val="6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4320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0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2809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34747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2809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132320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A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Year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4966F-AB65-8291-1590-2D9C6D27E5F1}"/>
              </a:ext>
            </a:extLst>
          </p:cNvPr>
          <p:cNvSpPr txBox="1"/>
          <p:nvPr/>
        </p:nvSpPr>
        <p:spPr>
          <a:xfrm>
            <a:off x="451162" y="1826120"/>
            <a:ext cx="25594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Presented by: Earl Tavera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0F9FB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NZ General Social Survey 2014–2018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wellbeing indicators across 3 biennial waves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8F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2020 values for each indicator using 5 ML/Statistical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0F9FB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Models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XGBoost (GBM)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ANN · ARIMA(1,1,1)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8F0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Evaluation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MAPE, R² computed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model across all indicators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92277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Satisfaction (Mean)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Worthwhile (Mean)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Inadequacy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Excellent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Loneliness None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Generalised Trust Low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Very Satisfied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Problems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Cultural Belonging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 Safe at Home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Stats NZ General Social Survey (NZGSS) 2014–2018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E8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β₀ + β₁·t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fit over time index. Simple baseline. Extrapolates trend linearly.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21408" y="960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21408" y="960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(GBM)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21408" y="146304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E8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12848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shallow trees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12848" y="2286000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on features: year, time offset, lag-1 difference.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77056" y="960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77056" y="960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77056" y="146304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E8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68496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h=4, lr=0.005, e=3000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68496" y="2286000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LSTM cell (numpy). Captures non-linear temporal dependencies.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32704" y="960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F9A8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32704" y="960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32704" y="146304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E8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24144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h=8, lr=0.005, e=5000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24144" y="2286000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feedforward net (8 hidden units, tanh). Backpropagation.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88352" y="9601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88352" y="960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88352" y="146304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E8F4F6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79792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fitted via OLS on diffs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79792" y="2286000"/>
            <a:ext cx="1371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Differenced series. AR(1) coefficient + MA(1) error correction.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Comparison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91440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943600" y="914400"/>
          <a:ext cx="29260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 Forecasts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114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Lin. Reg.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Satisfaction Mean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Worthwhile Mean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Inadequacy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Excellent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Loneliness None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Low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Very Satisfied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Problems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Cultural Belonging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AACD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 Safe Home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61.937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Life Satisfaction Mean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229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00584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0F9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126480" y="15361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2018 mean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 near 7.8)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35040" y="233172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2377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126480" y="2862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forecast 2020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(slight downward trend)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365760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FFF8E0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0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0.5%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26480" y="41879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MAPE across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best models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Performance Heatmap</a:t>
            </a:r>
            <a:endParaRPr lang="en-US" sz="2600" dirty="0"/>
          </a:p>
        </p:txBody>
      </p:sp>
      <p:pic>
        <p:nvPicPr>
          <p:cNvPr id="3" name="Image 0" descr="/home/claude/nz_wellbeing_forecast/outputs/04_r2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3D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932688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(GBM) — RMSE: 0.006, R²: 1.00. Excels with feature-engineered lag terms even on sparse data.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3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Runner-Up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7830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simple, interpretable, RMSE: 0.365. Works well when trends are linear.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946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2A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63347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63347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time points (2014, 2016, 2018). Deep learning models (LSTM, ANN) are disadvantaged by sparse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2A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48386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2020 Outlook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48386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satisfaction expected ~7.68; health declining; financial wellbeing improving; job satisfaction falling.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7024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0D2A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33425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Next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4334256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demographic sub-groups, external predictors (GDP, unemployment), and evaluate against 2020 NZGSS actuals.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2137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C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Wellbeing Forecasting · 5-Model Comparison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Stats NZ NZGSS 2014–2018 · Models: Linear Regression, XGBoost, LSTM, ANN, ARIMA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794</Words>
  <Application>Microsoft Macintosh PowerPoint</Application>
  <PresentationFormat>On-screen Show (16:9)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NZ Wellbeing Forecasting</dc:title>
  <dc:subject>PptxGenJS Presentation</dc:subject>
  <dc:creator>Wellbeing Analytics</dc:creator>
  <cp:lastModifiedBy>Tavera, Earl</cp:lastModifiedBy>
  <cp:revision>2</cp:revision>
  <dcterms:created xsi:type="dcterms:W3CDTF">2026-06-27T10:15:57Z</dcterms:created>
  <dcterms:modified xsi:type="dcterms:W3CDTF">2026-06-27T10:23:58Z</dcterms:modified>
</cp:coreProperties>
</file>