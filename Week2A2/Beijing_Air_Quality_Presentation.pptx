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04"/>
  </p:normalViewPr>
  <p:slideViewPr>
    <p:cSldViewPr snapToGrid="0" snapToObjects="1">
      <p:cViewPr>
        <p:scale>
          <a:sx n="104" d="100"/>
          <a:sy n="104" d="100"/>
        </p:scale>
        <p:origin x="576" y="5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595A6-DE0F-2B58-0353-4C2AD8415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Pipes over the sea">
            <a:extLst>
              <a:ext uri="{FF2B5EF4-FFF2-40B4-BE49-F238E27FC236}">
                <a16:creationId xmlns:a16="http://schemas.microsoft.com/office/drawing/2014/main" id="{9A1B68EC-3D20-1CB5-A795-7D6CEF2181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947" b="22947"/>
          <a:stretch>
            <a:fillRect/>
          </a:stretch>
        </p:blipFill>
        <p:spPr>
          <a:xfrm>
            <a:off x="20" y="10"/>
            <a:ext cx="9143980" cy="3907961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ED4400D-0290-992A-92A3-2B21CAF3A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107" y="-206829"/>
            <a:ext cx="8184527" cy="379911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NZ" b="1" dirty="0">
                <a:ln>
                  <a:solidFill>
                    <a:schemeClr val="bg2"/>
                  </a:solidFill>
                </a:ln>
              </a:rPr>
              <a:t>Beijing’s Atmosphere: </a:t>
            </a:r>
            <a:br>
              <a:rPr lang="en-NZ" sz="4000" b="1" dirty="0">
                <a:ln>
                  <a:solidFill>
                    <a:schemeClr val="bg2"/>
                  </a:solidFill>
                </a:ln>
              </a:rPr>
            </a:br>
            <a:r>
              <a:rPr lang="en-NZ" sz="4000" b="1" dirty="0">
                <a:ln>
                  <a:solidFill>
                    <a:schemeClr val="bg2"/>
                  </a:solidFill>
                </a:ln>
              </a:rPr>
              <a:t>A Multi-Site Air Quality Analysis (2013-2017)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859C8A8-A839-A3CB-0504-52839CA4A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17" y="5035318"/>
            <a:ext cx="6226628" cy="109129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NZ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NZ" sz="1600" b="1" dirty="0">
                <a:solidFill>
                  <a:schemeClr val="tx2"/>
                </a:solidFill>
              </a:rPr>
              <a:t>Presenter: Earl Tavera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75D00-DD04-B0C1-C091-821A8B6A85A8}"/>
              </a:ext>
            </a:extLst>
          </p:cNvPr>
          <p:cNvSpPr txBox="1"/>
          <p:nvPr/>
        </p:nvSpPr>
        <p:spPr>
          <a:xfrm>
            <a:off x="914783" y="4114810"/>
            <a:ext cx="7314433" cy="40011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NZ" sz="2000" dirty="0">
                <a:ln w="22225">
                  <a:solidFill>
                    <a:schemeClr val="bg2"/>
                  </a:solidFill>
                </a:ln>
                <a:solidFill>
                  <a:srgbClr val="FFC000"/>
                </a:solidFill>
              </a:rPr>
              <a:t>Moving from Raw Sensor Data to Predictive Environmental Insights</a:t>
            </a:r>
          </a:p>
        </p:txBody>
      </p:sp>
    </p:spTree>
    <p:extLst>
      <p:ext uri="{BB962C8B-B14F-4D97-AF65-F5344CB8AC3E}">
        <p14:creationId xmlns:p14="http://schemas.microsoft.com/office/powerpoint/2010/main" val="2487568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NZ" sz="3000" b="1" dirty="0"/>
              <a:t>From Fragmented Files to a Continuous Timeline</a:t>
            </a:r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NZ" sz="2100" dirty="0"/>
              <a:t>Consolidation: Merged 12 separate station datasets into a single unified master file.</a:t>
            </a:r>
          </a:p>
          <a:p>
            <a:r>
              <a:rPr lang="en-NZ" sz="2100" dirty="0"/>
              <a:t>Imputation (Handling Missing Data): Utilized Forward Filling (</a:t>
            </a:r>
            <a:r>
              <a:rPr lang="en-NZ" sz="2100" dirty="0" err="1"/>
              <a:t>ffill</a:t>
            </a:r>
            <a:r>
              <a:rPr lang="en-NZ" sz="2100" dirty="0"/>
              <a:t>) to patch sensor downtimes.</a:t>
            </a:r>
          </a:p>
          <a:p>
            <a:r>
              <a:rPr lang="en-NZ" sz="2100" dirty="0"/>
              <a:t>Temporal Alignment: Engineered a unified datetime column from fragmented year/month/day/hour data.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8" name="Graphic 17" descr="Database">
            <a:extLst>
              <a:ext uri="{FF2B5EF4-FFF2-40B4-BE49-F238E27FC236}">
                <a16:creationId xmlns:a16="http://schemas.microsoft.com/office/drawing/2014/main" id="{136A18C6-0B5B-D407-0ECD-580AFC8F08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639520"/>
            <a:ext cx="257175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Identifying the Epicenter: Station Ranking by PM2.5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458" y="2573756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73202" y="2807208"/>
            <a:ext cx="257175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Methodology: Grouped the historical data by station and calculated the 4-year average PM2.5 concentration.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The Finding: Pollution is not uniformly distributed across Beijing.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/>
              <a:t>The Target: Dongsi emerged as the station with the worst overall air quality.</a:t>
            </a:r>
          </a:p>
        </p:txBody>
      </p:sp>
      <p:pic>
        <p:nvPicPr>
          <p:cNvPr id="4" name="Picture 3" descr="Figur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627" y="1723644"/>
            <a:ext cx="5684524" cy="34107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Acute Pollution Events: Hourly Trends at Dongsi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2E92FA66-67D7-4CB4-94D3-E643A9AD4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480309" y="1227582"/>
            <a:ext cx="1554480" cy="13716"/>
          </a:xfrm>
          <a:custGeom>
            <a:avLst/>
            <a:gdLst>
              <a:gd name="csX0" fmla="*/ 0 w 1554480"/>
              <a:gd name="csY0" fmla="*/ 0 h 13716"/>
              <a:gd name="csX1" fmla="*/ 549250 w 1554480"/>
              <a:gd name="csY1" fmla="*/ 0 h 13716"/>
              <a:gd name="csX2" fmla="*/ 1082954 w 1554480"/>
              <a:gd name="csY2" fmla="*/ 0 h 13716"/>
              <a:gd name="csX3" fmla="*/ 1554480 w 1554480"/>
              <a:gd name="csY3" fmla="*/ 0 h 13716"/>
              <a:gd name="csX4" fmla="*/ 1554480 w 1554480"/>
              <a:gd name="csY4" fmla="*/ 13716 h 13716"/>
              <a:gd name="csX5" fmla="*/ 1067410 w 1554480"/>
              <a:gd name="csY5" fmla="*/ 13716 h 13716"/>
              <a:gd name="csX6" fmla="*/ 549250 w 1554480"/>
              <a:gd name="csY6" fmla="*/ 13716 h 13716"/>
              <a:gd name="csX7" fmla="*/ 0 w 1554480"/>
              <a:gd name="csY7" fmla="*/ 13716 h 13716"/>
              <a:gd name="csX8" fmla="*/ 0 w 1554480"/>
              <a:gd name="csY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3716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w="1554480" h="13716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490721" y="502920"/>
            <a:ext cx="5170932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Observation Scale: The first 500 hours (~20 days) at the Dongsi station.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Trend Analysis: PM2.5 does not hover at a steady state; it features extreme, sudden spikes.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/>
              <a:t>Health Implication: PM2.5 levels can jump from safe to hazardous (over 500) in a matter of hours.</a:t>
            </a:r>
          </a:p>
        </p:txBody>
      </p:sp>
      <p:pic>
        <p:nvPicPr>
          <p:cNvPr id="4" name="Picture 3" descr="Figur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4" y="2290936"/>
            <a:ext cx="7918707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Correlation Matrix: What Controls the Air Quality?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3373" y="586822"/>
            <a:ext cx="4501977" cy="16459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The Matrix: A Pearson Correlation Heatmap showing the relationship between all variables.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Shared Sources (Dark Red): PM2.5 strongly correlates with PM10 and Carbon Monoxide (CO).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/>
              <a:t>The Natural Cleanser (Dark Blue): PM2.5 has a strong negative correlation with Wind Speed (WSPM).</a:t>
            </a:r>
          </a:p>
        </p:txBody>
      </p:sp>
      <p:pic>
        <p:nvPicPr>
          <p:cNvPr id="4" name="Picture 3" descr="Figur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305" y="2734056"/>
            <a:ext cx="6667684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D7B6173-1D58-48E2-83CF-37350F31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36CA75-CFBF-4844-B719-8FE9EBADA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4A84B9-E564-4DD0-97F8-DBF1C460C2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02382E0-0A09-46AE-B955-B911CAFE7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DE75D4A-0965-4973-BE75-DECCAC9A9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4A599609-F5C2-4A0B-A992-913F814A6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0" y="0"/>
            <a:ext cx="9135879" cy="6858000"/>
          </a:xfrm>
          <a:prstGeom prst="rect">
            <a:avLst/>
          </a:prstGeom>
        </p:spPr>
      </p:pic>
      <p:pic>
        <p:nvPicPr>
          <p:cNvPr id="19" name="Picture 18" descr="Pipes over the sea">
            <a:extLst>
              <a:ext uri="{FF2B5EF4-FFF2-40B4-BE49-F238E27FC236}">
                <a16:creationId xmlns:a16="http://schemas.microsoft.com/office/drawing/2014/main" id="{EC3B5C32-5576-F7D9-C10E-9749B455CC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r="25"/>
          <a:stretch>
            <a:fillRect/>
          </a:stretch>
        </p:blipFill>
        <p:spPr>
          <a:xfrm>
            <a:off x="20" y="10"/>
            <a:ext cx="9141694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974" y="-350707"/>
            <a:ext cx="7351391" cy="2790331"/>
          </a:xfrm>
        </p:spPr>
        <p:txBody>
          <a:bodyPr anchor="b">
            <a:normAutofit/>
          </a:bodyPr>
          <a:lstStyle/>
          <a:p>
            <a:r>
              <a:rPr lang="en-NZ" sz="4200" b="1" dirty="0">
                <a:solidFill>
                  <a:srgbClr val="FFFFFF"/>
                </a:solidFill>
              </a:rPr>
              <a:t>From Reactive Monitoring to Predictive Action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"/>
          </p:nvPr>
        </p:nvSpPr>
        <p:spPr>
          <a:xfrm>
            <a:off x="893974" y="2993572"/>
            <a:ext cx="7351391" cy="3131136"/>
          </a:xfrm>
        </p:spPr>
        <p:txBody>
          <a:bodyPr anchor="t">
            <a:normAutofit/>
          </a:bodyPr>
          <a:lstStyle/>
          <a:p>
            <a:pPr algn="ctr"/>
            <a:r>
              <a:rPr lang="en-NZ" sz="2000" dirty="0">
                <a:solidFill>
                  <a:srgbClr val="FFFFFF"/>
                </a:solidFill>
              </a:rPr>
              <a:t>Meteorology over Emissions: Daily air quality is dictated just as much by wind patterns as it is by daily emissions.</a:t>
            </a:r>
          </a:p>
          <a:p>
            <a:pPr algn="ctr"/>
            <a:endParaRPr lang="en-NZ" sz="2000" dirty="0">
              <a:solidFill>
                <a:srgbClr val="FFFFFF"/>
              </a:solidFill>
            </a:endParaRPr>
          </a:p>
          <a:p>
            <a:pPr algn="ctr"/>
            <a:r>
              <a:rPr lang="en-NZ" sz="2000" dirty="0">
                <a:solidFill>
                  <a:srgbClr val="FFFFFF"/>
                </a:solidFill>
              </a:rPr>
              <a:t>Targeted Interventions: City planners must focus interventions on high-risk geographic pockets like </a:t>
            </a:r>
            <a:r>
              <a:rPr lang="en-NZ" sz="2000" dirty="0" err="1">
                <a:solidFill>
                  <a:srgbClr val="FFFFFF"/>
                </a:solidFill>
              </a:rPr>
              <a:t>Dongsi</a:t>
            </a:r>
            <a:r>
              <a:rPr lang="en-NZ" sz="2000" dirty="0">
                <a:solidFill>
                  <a:srgbClr val="FFFFFF"/>
                </a:solidFill>
              </a:rPr>
              <a:t>.</a:t>
            </a:r>
          </a:p>
          <a:p>
            <a:pPr algn="ctr"/>
            <a:endParaRPr lang="en-NZ" sz="2000" dirty="0">
              <a:solidFill>
                <a:srgbClr val="FFFFFF"/>
              </a:solidFill>
            </a:endParaRPr>
          </a:p>
          <a:p>
            <a:pPr algn="ctr"/>
            <a:r>
              <a:rPr lang="en-NZ" sz="2000" dirty="0">
                <a:solidFill>
                  <a:srgbClr val="FFFFFF"/>
                </a:solidFill>
              </a:rPr>
              <a:t>Future Potential: This data pipeline can serve as the foundation for Machine Learning models to forecast smog events days in advance.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321</Words>
  <Application>Microsoft Macintosh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Beijing’s Atmosphere:  A Multi-Site Air Quality Analysis (2013-2017)</vt:lpstr>
      <vt:lpstr>From Fragmented Files to a Continuous Timeline</vt:lpstr>
      <vt:lpstr>Identifying the Epicenter: Station Ranking by PM2.5</vt:lpstr>
      <vt:lpstr>Acute Pollution Events: Hourly Trends at Dongsi</vt:lpstr>
      <vt:lpstr>Correlation Matrix: What Controls the Air Quality?</vt:lpstr>
      <vt:lpstr>From Reactive Monitoring to Predictive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Earl Destriza Tavera</cp:lastModifiedBy>
  <cp:revision>2</cp:revision>
  <dcterms:created xsi:type="dcterms:W3CDTF">2013-01-27T09:14:16Z</dcterms:created>
  <dcterms:modified xsi:type="dcterms:W3CDTF">2026-04-22T08:17:43Z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2026-04-22T08:17:43Z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8db23623-7b8c-4011-870f-14607d1079cb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50, 3, 0, 1</vt:lpwstr>
  </property>
</Properties>
</file>